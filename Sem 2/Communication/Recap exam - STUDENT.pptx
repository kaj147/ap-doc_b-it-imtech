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02" r:id="rId4"/>
  </p:sldMasterIdLst>
  <p:notesMasterIdLst>
    <p:notesMasterId r:id="rId21"/>
  </p:notesMasterIdLst>
  <p:sldIdLst>
    <p:sldId id="475" r:id="rId5"/>
    <p:sldId id="478" r:id="rId6"/>
    <p:sldId id="481" r:id="rId7"/>
    <p:sldId id="497" r:id="rId8"/>
    <p:sldId id="494" r:id="rId9"/>
    <p:sldId id="506" r:id="rId10"/>
    <p:sldId id="507" r:id="rId11"/>
    <p:sldId id="509" r:id="rId12"/>
    <p:sldId id="521" r:id="rId13"/>
    <p:sldId id="518" r:id="rId14"/>
    <p:sldId id="515" r:id="rId15"/>
    <p:sldId id="514" r:id="rId16"/>
    <p:sldId id="519" r:id="rId17"/>
    <p:sldId id="520" r:id="rId18"/>
    <p:sldId id="496" r:id="rId19"/>
    <p:sldId id="476" r:id="rId20"/>
  </p:sldIdLst>
  <p:sldSz cx="12192000" cy="6858000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D9659"/>
    <a:srgbClr val="BF2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2A8FCB-9209-8091-2F13-F22D8EFE40A0}" v="47" dt="2026-04-28T12:01:42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nemans Charlotte" userId="S::p154347@ap.be::dbc0cbc5-11ea-44c4-b1a6-e5f994eb00ad" providerId="AD" clId="Web-{5B2A8FCB-9209-8091-2F13-F22D8EFE40A0}"/>
    <pc:docChg chg="addSld delSld modSld">
      <pc:chgData name="Binnemans Charlotte" userId="S::p154347@ap.be::dbc0cbc5-11ea-44c4-b1a6-e5f994eb00ad" providerId="AD" clId="Web-{5B2A8FCB-9209-8091-2F13-F22D8EFE40A0}" dt="2026-04-28T12:01:42.676" v="46" actId="1076"/>
      <pc:docMkLst>
        <pc:docMk/>
      </pc:docMkLst>
      <pc:sldChg chg="add del">
        <pc:chgData name="Binnemans Charlotte" userId="S::p154347@ap.be::dbc0cbc5-11ea-44c4-b1a6-e5f994eb00ad" providerId="AD" clId="Web-{5B2A8FCB-9209-8091-2F13-F22D8EFE40A0}" dt="2026-04-28T12:00:04.065" v="17"/>
        <pc:sldMkLst>
          <pc:docMk/>
          <pc:sldMk cId="2647586367" sldId="475"/>
        </pc:sldMkLst>
      </pc:sldChg>
      <pc:sldChg chg="add del">
        <pc:chgData name="Binnemans Charlotte" userId="S::p154347@ap.be::dbc0cbc5-11ea-44c4-b1a6-e5f994eb00ad" providerId="AD" clId="Web-{5B2A8FCB-9209-8091-2F13-F22D8EFE40A0}" dt="2026-04-28T12:00:05.783" v="35"/>
        <pc:sldMkLst>
          <pc:docMk/>
          <pc:sldMk cId="2625657087" sldId="476"/>
        </pc:sldMkLst>
      </pc:sldChg>
      <pc:sldChg chg="add del">
        <pc:chgData name="Binnemans Charlotte" userId="S::p154347@ap.be::dbc0cbc5-11ea-44c4-b1a6-e5f994eb00ad" providerId="AD" clId="Web-{5B2A8FCB-9209-8091-2F13-F22D8EFE40A0}" dt="2026-04-28T12:00:04.143" v="18"/>
        <pc:sldMkLst>
          <pc:docMk/>
          <pc:sldMk cId="1794918646" sldId="478"/>
        </pc:sldMkLst>
      </pc:sldChg>
      <pc:sldChg chg="add del">
        <pc:chgData name="Binnemans Charlotte" userId="S::p154347@ap.be::dbc0cbc5-11ea-44c4-b1a6-e5f994eb00ad" providerId="AD" clId="Web-{5B2A8FCB-9209-8091-2F13-F22D8EFE40A0}" dt="2026-04-28T12:00:04.268" v="19"/>
        <pc:sldMkLst>
          <pc:docMk/>
          <pc:sldMk cId="3356820624" sldId="481"/>
        </pc:sldMkLst>
      </pc:sldChg>
      <pc:sldChg chg="add del">
        <pc:chgData name="Binnemans Charlotte" userId="S::p154347@ap.be::dbc0cbc5-11ea-44c4-b1a6-e5f994eb00ad" providerId="AD" clId="Web-{5B2A8FCB-9209-8091-2F13-F22D8EFE40A0}" dt="2026-04-28T12:00:04.408" v="21"/>
        <pc:sldMkLst>
          <pc:docMk/>
          <pc:sldMk cId="1042562350" sldId="494"/>
        </pc:sldMkLst>
      </pc:sldChg>
      <pc:sldChg chg="add del">
        <pc:chgData name="Binnemans Charlotte" userId="S::p154347@ap.be::dbc0cbc5-11ea-44c4-b1a6-e5f994eb00ad" providerId="AD" clId="Web-{5B2A8FCB-9209-8091-2F13-F22D8EFE40A0}" dt="2026-04-28T12:00:05.549" v="34"/>
        <pc:sldMkLst>
          <pc:docMk/>
          <pc:sldMk cId="4036703730" sldId="496"/>
        </pc:sldMkLst>
      </pc:sldChg>
      <pc:sldChg chg="add del">
        <pc:chgData name="Binnemans Charlotte" userId="S::p154347@ap.be::dbc0cbc5-11ea-44c4-b1a6-e5f994eb00ad" providerId="AD" clId="Web-{5B2A8FCB-9209-8091-2F13-F22D8EFE40A0}" dt="2026-04-28T12:00:04.330" v="20"/>
        <pc:sldMkLst>
          <pc:docMk/>
          <pc:sldMk cId="395562067" sldId="497"/>
        </pc:sldMkLst>
      </pc:sldChg>
      <pc:sldChg chg="del">
        <pc:chgData name="Binnemans Charlotte" userId="S::p154347@ap.be::dbc0cbc5-11ea-44c4-b1a6-e5f994eb00ad" providerId="AD" clId="Web-{5B2A8FCB-9209-8091-2F13-F22D8EFE40A0}" dt="2026-04-28T11:59:48.486" v="15"/>
        <pc:sldMkLst>
          <pc:docMk/>
          <pc:sldMk cId="4125061149" sldId="504"/>
        </pc:sldMkLst>
      </pc:sldChg>
      <pc:sldChg chg="del">
        <pc:chgData name="Binnemans Charlotte" userId="S::p154347@ap.be::dbc0cbc5-11ea-44c4-b1a6-e5f994eb00ad" providerId="AD" clId="Web-{5B2A8FCB-9209-8091-2F13-F22D8EFE40A0}" dt="2026-04-28T11:59:48.486" v="13"/>
        <pc:sldMkLst>
          <pc:docMk/>
          <pc:sldMk cId="1226604253" sldId="505"/>
        </pc:sldMkLst>
      </pc:sldChg>
      <pc:sldChg chg="add del">
        <pc:chgData name="Binnemans Charlotte" userId="S::p154347@ap.be::dbc0cbc5-11ea-44c4-b1a6-e5f994eb00ad" providerId="AD" clId="Web-{5B2A8FCB-9209-8091-2F13-F22D8EFE40A0}" dt="2026-04-28T12:00:04.486" v="22"/>
        <pc:sldMkLst>
          <pc:docMk/>
          <pc:sldMk cId="1495343805" sldId="506"/>
        </pc:sldMkLst>
      </pc:sldChg>
      <pc:sldChg chg="add del">
        <pc:chgData name="Binnemans Charlotte" userId="S::p154347@ap.be::dbc0cbc5-11ea-44c4-b1a6-e5f994eb00ad" providerId="AD" clId="Web-{5B2A8FCB-9209-8091-2F13-F22D8EFE40A0}" dt="2026-04-28T12:00:04.533" v="23"/>
        <pc:sldMkLst>
          <pc:docMk/>
          <pc:sldMk cId="1324927391" sldId="507"/>
        </pc:sldMkLst>
      </pc:sldChg>
      <pc:sldChg chg="add del">
        <pc:chgData name="Binnemans Charlotte" userId="S::p154347@ap.be::dbc0cbc5-11ea-44c4-b1a6-e5f994eb00ad" providerId="AD" clId="Web-{5B2A8FCB-9209-8091-2F13-F22D8EFE40A0}" dt="2026-04-28T12:00:41.315" v="38"/>
        <pc:sldMkLst>
          <pc:docMk/>
          <pc:sldMk cId="3377210156" sldId="508"/>
        </pc:sldMkLst>
      </pc:sldChg>
      <pc:sldChg chg="add">
        <pc:chgData name="Binnemans Charlotte" userId="S::p154347@ap.be::dbc0cbc5-11ea-44c4-b1a6-e5f994eb00ad" providerId="AD" clId="Web-{5B2A8FCB-9209-8091-2F13-F22D8EFE40A0}" dt="2026-04-28T12:00:04.830" v="25"/>
        <pc:sldMkLst>
          <pc:docMk/>
          <pc:sldMk cId="2372340767" sldId="509"/>
        </pc:sldMkLst>
      </pc:sldChg>
      <pc:sldChg chg="add del">
        <pc:chgData name="Binnemans Charlotte" userId="S::p154347@ap.be::dbc0cbc5-11ea-44c4-b1a6-e5f994eb00ad" providerId="AD" clId="Web-{5B2A8FCB-9209-8091-2F13-F22D8EFE40A0}" dt="2026-04-28T12:00:05.299" v="31"/>
        <pc:sldMkLst>
          <pc:docMk/>
          <pc:sldMk cId="3735218349" sldId="514"/>
        </pc:sldMkLst>
      </pc:sldChg>
      <pc:sldChg chg="add del">
        <pc:chgData name="Binnemans Charlotte" userId="S::p154347@ap.be::dbc0cbc5-11ea-44c4-b1a6-e5f994eb00ad" providerId="AD" clId="Web-{5B2A8FCB-9209-8091-2F13-F22D8EFE40A0}" dt="2026-04-28T12:00:05.205" v="30"/>
        <pc:sldMkLst>
          <pc:docMk/>
          <pc:sldMk cId="333559996" sldId="515"/>
        </pc:sldMkLst>
      </pc:sldChg>
      <pc:sldChg chg="add del">
        <pc:chgData name="Binnemans Charlotte" userId="S::p154347@ap.be::dbc0cbc5-11ea-44c4-b1a6-e5f994eb00ad" providerId="AD" clId="Web-{5B2A8FCB-9209-8091-2F13-F22D8EFE40A0}" dt="2026-04-28T12:00:29.628" v="37"/>
        <pc:sldMkLst>
          <pc:docMk/>
          <pc:sldMk cId="4020851933" sldId="517"/>
        </pc:sldMkLst>
      </pc:sldChg>
      <pc:sldChg chg="add del">
        <pc:chgData name="Binnemans Charlotte" userId="S::p154347@ap.be::dbc0cbc5-11ea-44c4-b1a6-e5f994eb00ad" providerId="AD" clId="Web-{5B2A8FCB-9209-8091-2F13-F22D8EFE40A0}" dt="2026-04-28T12:00:05.033" v="28"/>
        <pc:sldMkLst>
          <pc:docMk/>
          <pc:sldMk cId="1086228023" sldId="518"/>
        </pc:sldMkLst>
      </pc:sldChg>
      <pc:sldChg chg="add del">
        <pc:chgData name="Binnemans Charlotte" userId="S::p154347@ap.be::dbc0cbc5-11ea-44c4-b1a6-e5f994eb00ad" providerId="AD" clId="Web-{5B2A8FCB-9209-8091-2F13-F22D8EFE40A0}" dt="2026-04-28T12:00:05.377" v="32"/>
        <pc:sldMkLst>
          <pc:docMk/>
          <pc:sldMk cId="2779530714" sldId="519"/>
        </pc:sldMkLst>
      </pc:sldChg>
      <pc:sldChg chg="add del">
        <pc:chgData name="Binnemans Charlotte" userId="S::p154347@ap.be::dbc0cbc5-11ea-44c4-b1a6-e5f994eb00ad" providerId="AD" clId="Web-{5B2A8FCB-9209-8091-2F13-F22D8EFE40A0}" dt="2026-04-28T12:00:05.440" v="33"/>
        <pc:sldMkLst>
          <pc:docMk/>
          <pc:sldMk cId="1032037209" sldId="520"/>
        </pc:sldMkLst>
      </pc:sldChg>
      <pc:sldChg chg="addSp modSp add">
        <pc:chgData name="Binnemans Charlotte" userId="S::p154347@ap.be::dbc0cbc5-11ea-44c4-b1a6-e5f994eb00ad" providerId="AD" clId="Web-{5B2A8FCB-9209-8091-2F13-F22D8EFE40A0}" dt="2026-04-28T12:01:42.676" v="46" actId="1076"/>
        <pc:sldMkLst>
          <pc:docMk/>
          <pc:sldMk cId="798714908" sldId="521"/>
        </pc:sldMkLst>
        <pc:spChg chg="mod">
          <ac:chgData name="Binnemans Charlotte" userId="S::p154347@ap.be::dbc0cbc5-11ea-44c4-b1a6-e5f994eb00ad" providerId="AD" clId="Web-{5B2A8FCB-9209-8091-2F13-F22D8EFE40A0}" dt="2026-04-28T12:01:42.676" v="46" actId="1076"/>
          <ac:spMkLst>
            <pc:docMk/>
            <pc:sldMk cId="798714908" sldId="521"/>
            <ac:spMk id="3" creationId="{CCF202EC-EC0A-C1A9-FAB5-F4ABAEFC2DC8}"/>
          </ac:spMkLst>
        </pc:spChg>
        <pc:spChg chg="add mod">
          <ac:chgData name="Binnemans Charlotte" userId="S::p154347@ap.be::dbc0cbc5-11ea-44c4-b1a6-e5f994eb00ad" providerId="AD" clId="Web-{5B2A8FCB-9209-8091-2F13-F22D8EFE40A0}" dt="2026-04-28T12:01:38.941" v="45"/>
          <ac:spMkLst>
            <pc:docMk/>
            <pc:sldMk cId="798714908" sldId="521"/>
            <ac:spMk id="5" creationId="{2E1B6EA9-56DB-D411-DEAC-0E697BD678B3}"/>
          </ac:spMkLst>
        </pc:spChg>
      </pc:sldChg>
      <pc:sldChg chg="del">
        <pc:chgData name="Binnemans Charlotte" userId="S::p154347@ap.be::dbc0cbc5-11ea-44c4-b1a6-e5f994eb00ad" providerId="AD" clId="Web-{5B2A8FCB-9209-8091-2F13-F22D8EFE40A0}" dt="2026-04-28T11:59:48.486" v="12"/>
        <pc:sldMkLst>
          <pc:docMk/>
          <pc:sldMk cId="2881171450" sldId="521"/>
        </pc:sldMkLst>
      </pc:sldChg>
      <pc:sldChg chg="add del">
        <pc:chgData name="Binnemans Charlotte" userId="S::p154347@ap.be::dbc0cbc5-11ea-44c4-b1a6-e5f994eb00ad" providerId="AD" clId="Web-{5B2A8FCB-9209-8091-2F13-F22D8EFE40A0}" dt="2026-04-28T12:00:19.346" v="36"/>
        <pc:sldMkLst>
          <pc:docMk/>
          <pc:sldMk cId="2028588958" sldId="5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67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68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69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0" name="AutoShape 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1" name="AutoShape 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2" name="AutoShape 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3" name="AutoShape 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4" name="AutoShape 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5" name="AutoShape 1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6" name="AutoShape 1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7" name="Text Box 1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8" name="Text Box 13"/>
          <p:cNvSpPr txBox="1">
            <a:spLocks noChangeArrowheads="1"/>
          </p:cNvSpPr>
          <p:nvPr/>
        </p:nvSpPr>
        <p:spPr bwMode="auto">
          <a:xfrm>
            <a:off x="3884613" y="0"/>
            <a:ext cx="295751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11279" name="Rectangle 1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8938" y="685800"/>
            <a:ext cx="6062662" cy="3411538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1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68938" cy="409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BE" altLang="nl-BE" noProof="0"/>
          </a:p>
        </p:txBody>
      </p:sp>
      <p:sp>
        <p:nvSpPr>
          <p:cNvPr id="11281" name="Text Box 1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nl-BE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00025" algn="r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C07B287D-3F9A-4E87-B6F2-A1D865831F35}" type="slidenum">
              <a:rPr lang="nl-BE" altLang="nl-BE"/>
              <a:pPr>
                <a:defRPr/>
              </a:pPr>
              <a:t>‹#›</a:t>
            </a:fld>
            <a:endParaRPr lang="nl-BE" altLang="nl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7DFBAEB1-7534-314E-A9EF-59F46B2F58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25" b="11825"/>
          <a:stretch/>
        </p:blipFill>
        <p:spPr>
          <a:xfrm>
            <a:off x="-2" y="2"/>
            <a:ext cx="12192003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8005" y="1116281"/>
            <a:ext cx="7429995" cy="1707677"/>
          </a:xfrm>
        </p:spPr>
        <p:txBody>
          <a:bodyPr anchor="b" anchorCtr="0"/>
          <a:lstStyle>
            <a:lvl1pPr algn="l"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8005" y="3029798"/>
            <a:ext cx="7429995" cy="916523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4E20D0F-AC40-FD43-8BCE-462FDF3A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52" y="3141682"/>
            <a:ext cx="4148447" cy="3716317"/>
          </a:xfrm>
          <a:prstGeom prst="rect">
            <a:avLst/>
          </a:prstGeom>
        </p:spPr>
      </p:pic>
      <p:pic>
        <p:nvPicPr>
          <p:cNvPr id="13" name="Afbeelding 12" descr="Afbeelding met tekening&#10;&#10;Automatisch gegenereerde beschrijving">
            <a:extLst>
              <a:ext uri="{FF2B5EF4-FFF2-40B4-BE49-F238E27FC236}">
                <a16:creationId xmlns:a16="http://schemas.microsoft.com/office/drawing/2014/main" id="{D8123E29-3FEF-F448-9714-34CF79BE8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6331" y="5986559"/>
            <a:ext cx="79545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7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928F1-0076-4340-BE68-1AED3FC6F9FC}" type="datetime1">
              <a:rPr lang="nl-BE" smtClean="0"/>
              <a:t>28/04/2026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Powerpointsjabloon 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81755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>
            <a:extLst>
              <a:ext uri="{FF2B5EF4-FFF2-40B4-BE49-F238E27FC236}">
                <a16:creationId xmlns:a16="http://schemas.microsoft.com/office/drawing/2014/main" id="{BC2470E5-3757-7D42-9FC4-F6ECDE9AE5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25" b="11825"/>
          <a:stretch/>
        </p:blipFill>
        <p:spPr>
          <a:xfrm>
            <a:off x="-2" y="2"/>
            <a:ext cx="12192003" cy="6857999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01D7CB96-9E3F-084B-9130-4BB4FEB95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141683"/>
            <a:ext cx="4148447" cy="3716317"/>
          </a:xfrm>
          <a:prstGeom prst="rect">
            <a:avLst/>
          </a:prstGeom>
        </p:spPr>
      </p:pic>
      <p:pic>
        <p:nvPicPr>
          <p:cNvPr id="12" name="Afbeelding 11" descr="Afbeelding met tekening&#10;&#10;Automatisch gegenereerde beschrijving">
            <a:extLst>
              <a:ext uri="{FF2B5EF4-FFF2-40B4-BE49-F238E27FC236}">
                <a16:creationId xmlns:a16="http://schemas.microsoft.com/office/drawing/2014/main" id="{0E25DA74-6D2C-8E40-96B9-E43883B2D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6331" y="5986559"/>
            <a:ext cx="795452" cy="3651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2172" y="870857"/>
            <a:ext cx="7436435" cy="1953955"/>
          </a:xfrm>
        </p:spPr>
        <p:txBody>
          <a:bodyPr anchor="b"/>
          <a:lstStyle>
            <a:lvl1pPr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2170" y="3032902"/>
            <a:ext cx="7436435" cy="981809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58607" y="6356351"/>
            <a:ext cx="108560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3EB475-207A-42AC-B003-4DC4538CF5AB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22372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53331"/>
            <a:ext cx="5181600" cy="43513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53331"/>
            <a:ext cx="5181600" cy="43513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CC72B-8EDA-AA4C-8AC1-32906747DF83}" type="datetime1">
              <a:rPr lang="nl-BE" smtClean="0"/>
              <a:t>28/04/2026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Powerpointsjabloon AP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BB9739-6CF1-441F-AFB8-DBB847B11BDF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82982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3857"/>
            <a:ext cx="10515600" cy="6007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56067"/>
            <a:ext cx="5157787" cy="823912"/>
          </a:xfrm>
        </p:spPr>
        <p:txBody>
          <a:bodyPr anchor="t" anchorCtr="0">
            <a:noAutofit/>
          </a:bodyPr>
          <a:lstStyle>
            <a:lvl1pPr marL="0" indent="0">
              <a:buNone/>
              <a:defRPr sz="3200" b="0">
                <a:solidFill>
                  <a:srgbClr val="AD0F0A"/>
                </a:solidFill>
                <a:latin typeface="Century Gothic" panose="020B0502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394597"/>
            <a:ext cx="5157787" cy="34787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256067"/>
            <a:ext cx="5183188" cy="823912"/>
          </a:xfrm>
        </p:spPr>
        <p:txBody>
          <a:bodyPr anchor="t" anchorCtr="0">
            <a:noAutofit/>
          </a:bodyPr>
          <a:lstStyle>
            <a:lvl1pPr marL="0" indent="0">
              <a:buNone/>
              <a:defRPr sz="3200" b="0">
                <a:solidFill>
                  <a:srgbClr val="AD0F0A"/>
                </a:solidFill>
                <a:latin typeface="Century Gothic" panose="020B0502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394597"/>
            <a:ext cx="5183188" cy="34787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C0E4C-D4EE-5342-8043-CB553A79C6F9}" type="datetime1">
              <a:rPr lang="nl-BE" smtClean="0"/>
              <a:t>28/04/2026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Powerpointsjabloon AP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E76DEF-9D3A-475E-AAE8-5EA7CC0C21D6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67692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9D586-114A-B749-8320-F972FC7433EF}" type="datetime1">
              <a:rPr lang="nl-BE" smtClean="0"/>
              <a:t>28/04/2026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Powerpointsjabloon AP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286456-5268-4474-A4B6-E87FCBB81B3A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2768936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B369-DF3D-5943-8EF7-559AB855FF21}" type="datetime1">
              <a:rPr lang="nl-BE" smtClean="0"/>
              <a:t>28/04/2026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Powerpointsjabloon 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91FA8-0F09-486F-8694-37C8C99D7D29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305109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3856"/>
            <a:ext cx="3932237" cy="102618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43857"/>
            <a:ext cx="6172200" cy="531719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639892"/>
            <a:ext cx="3932237" cy="4229097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AE3C-AC47-4A42-A90F-7574D2B5A3F0}" type="datetime1">
              <a:rPr lang="nl-BE" smtClean="0"/>
              <a:t>28/04/2026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Powerpointsjabloon AP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0898E0-5AD2-4D15-867E-8A07D84E9C2E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61960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3857"/>
            <a:ext cx="3932237" cy="93660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43857"/>
            <a:ext cx="6172200" cy="5317195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646713"/>
            <a:ext cx="3932237" cy="422227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BD4B-993E-3647-BCB5-747E410A6168}" type="datetime1">
              <a:rPr lang="nl-BE" smtClean="0"/>
              <a:t>28/04/2026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nl-BE"/>
              <a:t>Powerpointsjabloon AP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7A5215-E5EE-467F-9274-8F7C628FF8D9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2307008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43857"/>
            <a:ext cx="10515600" cy="6007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38401" y="6356351"/>
            <a:ext cx="9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31908-F790-B44F-A0B7-3AF51BA4B204}" type="datetime1">
              <a:rPr lang="nl-BE" smtClean="0"/>
              <a:t>28/04/2026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4261" y="6356351"/>
            <a:ext cx="68639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nl-BE"/>
              <a:t>Powerpointsjabloon 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8197" y="6356351"/>
            <a:ext cx="1085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9CDBE59-8928-494A-8E58-A40AD1F45461}" type="slidenum">
              <a:rPr lang="nl-BE" altLang="nl-BE" smtClean="0"/>
              <a:pPr>
                <a:defRPr/>
              </a:pPr>
              <a:t>‹#›</a:t>
            </a:fld>
            <a:endParaRPr lang="nl-BE" altLang="nl-BE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4A79F64-0EFC-174C-89B9-98BEB632C7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5070841"/>
            <a:ext cx="1997413" cy="178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0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733" kern="1200">
          <a:solidFill>
            <a:srgbClr val="AD0F0A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AD0F0A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AD0F0A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AD0F0A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AD0F0A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AD0F0A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B44457E-357F-EF4E-BA8F-43239FA50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769" y="2092354"/>
            <a:ext cx="4406801" cy="45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nl-BE" sz="1600">
              <a:solidFill>
                <a:srgbClr val="FFFFFF"/>
              </a:solidFill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D55B76BC-8759-F54E-BD68-0B7A700DD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5137" y="1794026"/>
            <a:ext cx="5581433" cy="82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nl-BE" altLang="nl-BE" sz="3600">
              <a:solidFill>
                <a:schemeClr val="bg1"/>
              </a:solidFill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8F0A5DF-13AA-8D49-88C4-58060EFE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164" y="3443413"/>
            <a:ext cx="360045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ts val="506"/>
              </a:spcBef>
              <a:buClrTx/>
            </a:pPr>
            <a:endParaRPr lang="nl-BE" altLang="nl-BE" sz="2800">
              <a:solidFill>
                <a:srgbClr val="FFFFFF"/>
              </a:solidFill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05F87A04-C425-BC46-BCD9-5EB3D9D1E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8048" y="4725144"/>
            <a:ext cx="3888432" cy="63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625" tIns="25313" rIns="50625" bIns="25313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394"/>
              </a:spcBef>
              <a:buClrTx/>
            </a:pPr>
            <a:r>
              <a:rPr lang="nl-BE" altLang="nl-BE" sz="200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                 Koen Van Eyken</a:t>
            </a:r>
          </a:p>
          <a:p>
            <a:pPr eaLnBrk="1" hangingPunct="1">
              <a:lnSpc>
                <a:spcPct val="90000"/>
              </a:lnSpc>
              <a:spcBef>
                <a:spcPts val="394"/>
              </a:spcBef>
              <a:buClrTx/>
            </a:pPr>
            <a:r>
              <a:rPr lang="nl-BE" altLang="nl-BE" sz="200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Charlotte Binnemans</a:t>
            </a:r>
          </a:p>
          <a:p>
            <a:pPr eaLnBrk="1" hangingPunct="1">
              <a:lnSpc>
                <a:spcPct val="90000"/>
              </a:lnSpc>
              <a:spcBef>
                <a:spcPts val="394"/>
              </a:spcBef>
              <a:buClrTx/>
            </a:pPr>
            <a:endParaRPr lang="nl-BE" altLang="nl-BE" sz="1400">
              <a:solidFill>
                <a:srgbClr val="CCCCFF"/>
              </a:solidFill>
              <a:cs typeface="Arial" panose="020B0604020202020204" pitchFamily="34" charset="0"/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AE5FC4D4-4B78-ED4C-B8EC-0B4864A0D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9628" y="1700808"/>
            <a:ext cx="8446852" cy="2304255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BE" altLang="nl-BE" sz="8000">
                <a:solidFill>
                  <a:srgbClr val="FFFFFF"/>
                </a:solidFill>
                <a:latin typeface="Century Gothic"/>
                <a:cs typeface="Arial"/>
              </a:rPr>
              <a:t>Communication</a:t>
            </a:r>
          </a:p>
          <a:p>
            <a:pPr algn="ctr"/>
            <a:r>
              <a:rPr lang="nl-BE" sz="8000" err="1">
                <a:latin typeface="Century Gothic"/>
                <a:cs typeface="Arial"/>
              </a:rPr>
              <a:t>Recap</a:t>
            </a:r>
            <a:r>
              <a:rPr lang="nl-BE" sz="8000">
                <a:latin typeface="Century Gothic"/>
                <a:cs typeface="Arial"/>
              </a:rPr>
              <a:t> </a:t>
            </a:r>
            <a:r>
              <a:rPr lang="nl-BE" sz="8000" err="1">
                <a:latin typeface="Century Gothic"/>
                <a:cs typeface="Arial"/>
              </a:rPr>
              <a:t>exam</a:t>
            </a:r>
            <a:endParaRPr lang="nl-BE" sz="8000"/>
          </a:p>
        </p:txBody>
      </p:sp>
    </p:spTree>
    <p:extLst>
      <p:ext uri="{BB962C8B-B14F-4D97-AF65-F5344CB8AC3E}">
        <p14:creationId xmlns:p14="http://schemas.microsoft.com/office/powerpoint/2010/main" val="264758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54AC9-FA09-EC48-A0B3-A88BD8E8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91FA8-0F09-486F-8694-37C8C99D7D29}" type="slidenum">
              <a:rPr lang="nl-BE" altLang="nl-BE" smtClean="0"/>
              <a:pPr>
                <a:defRPr/>
              </a:pPr>
              <a:t>2</a:t>
            </a:fld>
            <a:endParaRPr lang="nl-BE" altLang="nl-BE"/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F51FE3E3-B975-DE4B-B242-645694AA9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248" y="379"/>
            <a:ext cx="8712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defRPr/>
            </a:pPr>
            <a:r>
              <a:rPr lang="nl-BE" sz="3733">
                <a:solidFill>
                  <a:srgbClr val="AD0F0A"/>
                </a:solidFill>
                <a:latin typeface="Century Gothic" panose="020B0502020202020204" pitchFamily="34" charset="0"/>
                <a:ea typeface="+mj-ea"/>
                <a:cs typeface="+mj-cs"/>
              </a:rPr>
              <a:t>Evaluation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A30D6A1-98EE-9CED-8CFF-662EBC2907C4}"/>
              </a:ext>
            </a:extLst>
          </p:cNvPr>
          <p:cNvSpPr txBox="1"/>
          <p:nvPr/>
        </p:nvSpPr>
        <p:spPr>
          <a:xfrm>
            <a:off x="908360" y="1144509"/>
            <a:ext cx="10066558" cy="23052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7965" indent="-227965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Speaking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(permanent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evaluation</a:t>
            </a: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) 50%</a:t>
            </a:r>
          </a:p>
          <a:p>
            <a:pPr marL="970915" lvl="1" indent="-227965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Courier New" panose="020B0604020202020204" pitchFamily="34" charset="0"/>
              <a:buChar char="o"/>
            </a:pP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Presentation </a:t>
            </a:r>
            <a:r>
              <a:rPr lang="nl-B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35%</a:t>
            </a:r>
          </a:p>
          <a:p>
            <a:pPr marL="970915" lvl="1" indent="-227965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Courier New" panose="020B0604020202020204" pitchFamily="34" charset="0"/>
              <a:buChar char="o"/>
            </a:pP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Telephone conversation </a:t>
            </a:r>
            <a:r>
              <a:rPr lang="nl-B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15%</a:t>
            </a:r>
          </a:p>
          <a:p>
            <a:pPr marL="970915" lvl="1" indent="-227965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Courier New" panose="020B0604020202020204" pitchFamily="34" charset="0"/>
              <a:buChar char="o"/>
            </a:pPr>
            <a:endParaRPr lang="nl-BE" sz="28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endParaRPr lang="nl-BE">
              <a:solidFill>
                <a:schemeClr val="bg2">
                  <a:lumMod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Pijl: links 2">
            <a:extLst>
              <a:ext uri="{FF2B5EF4-FFF2-40B4-BE49-F238E27FC236}">
                <a16:creationId xmlns:a16="http://schemas.microsoft.com/office/drawing/2014/main" id="{5EBE552C-E4B8-A11B-D51B-F4FDF478458B}"/>
              </a:ext>
            </a:extLst>
          </p:cNvPr>
          <p:cNvSpPr/>
          <p:nvPr/>
        </p:nvSpPr>
        <p:spPr>
          <a:xfrm>
            <a:off x="8071218" y="1101337"/>
            <a:ext cx="2624754" cy="615462"/>
          </a:xfrm>
          <a:prstGeom prst="leftArrow">
            <a:avLst/>
          </a:prstGeom>
          <a:solidFill>
            <a:srgbClr val="AD0F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ea typeface="Calibri"/>
                <a:cs typeface="Calibri"/>
              </a:rPr>
              <a:t>In class 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4918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54AC9-FA09-EC48-A0B3-A88BD8E8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91FA8-0F09-486F-8694-37C8C99D7D29}" type="slidenum">
              <a:rPr lang="nl-BE" altLang="nl-BE" smtClean="0"/>
              <a:pPr>
                <a:defRPr/>
              </a:pPr>
              <a:t>3</a:t>
            </a:fld>
            <a:endParaRPr lang="nl-BE" altLang="nl-BE"/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F51FE3E3-B975-DE4B-B242-645694AA9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764" y="194715"/>
            <a:ext cx="8712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defRPr/>
            </a:pPr>
            <a:r>
              <a:rPr lang="nl-BE" sz="3733">
                <a:solidFill>
                  <a:srgbClr val="AD0F0A"/>
                </a:solidFill>
                <a:latin typeface="Century Gothic" panose="020B0502020202020204" pitchFamily="34" charset="0"/>
                <a:ea typeface="+mj-ea"/>
                <a:cs typeface="+mj-cs"/>
              </a:rPr>
              <a:t>Evaluation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A30D6A1-98EE-9CED-8CFF-662EBC2907C4}"/>
              </a:ext>
            </a:extLst>
          </p:cNvPr>
          <p:cNvSpPr txBox="1"/>
          <p:nvPr/>
        </p:nvSpPr>
        <p:spPr>
          <a:xfrm>
            <a:off x="764659" y="1247444"/>
            <a:ext cx="10822577" cy="5162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Results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are </a:t>
            </a:r>
            <a:r>
              <a:rPr lang="nl-BE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not</a:t>
            </a:r>
            <a:r>
              <a:rPr lang="nl-B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transferred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if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you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have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to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resit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your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exam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. </a:t>
            </a:r>
          </a:p>
          <a:p>
            <a:pPr marL="970915" lvl="1" indent="-227965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Both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speaking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and</a:t>
            </a:r>
            <a:r>
              <a:rPr lang="nl-B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writing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will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need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to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be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done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again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.</a:t>
            </a:r>
          </a:p>
          <a:p>
            <a:pPr marL="970915" lvl="1" indent="-227965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Passed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for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speaking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but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failed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writing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(or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vice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versa)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and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total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is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less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than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10? EVERYTHING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needs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to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be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done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again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! </a:t>
            </a:r>
          </a:p>
          <a:p>
            <a:pPr marL="970915" lvl="1" indent="-227965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Example</a:t>
            </a:r>
            <a:r>
              <a:rPr lang="nl-B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: </a:t>
            </a:r>
          </a:p>
          <a:p>
            <a:pPr marL="1370965" lvl="2" indent="-227965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Wingdings" panose="020B0604020202020204" pitchFamily="34" charset="0"/>
              <a:buChar char="§"/>
            </a:pPr>
            <a:endParaRPr lang="nl-BE" sz="28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marL="970915" lvl="1" indent="-227965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endParaRPr lang="nl-BE" sz="28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marL="227965" lvl="1" indent="-227965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endParaRPr lang="nl-BE" sz="32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marL="227965" indent="-227965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endParaRPr lang="nl-BE" sz="32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marL="227965" lvl="1" indent="-227965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endParaRPr lang="nl-BE" sz="32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655D167F-796B-A1CF-0831-558FE71FB4E8}"/>
              </a:ext>
            </a:extLst>
          </p:cNvPr>
          <p:cNvGraphicFramePr>
            <a:graphicFrameLocks noGrp="1"/>
          </p:cNvGraphicFramePr>
          <p:nvPr/>
        </p:nvGraphicFramePr>
        <p:xfrm>
          <a:off x="1939962" y="3653834"/>
          <a:ext cx="9196017" cy="2494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1033">
                  <a:extLst>
                    <a:ext uri="{9D8B030D-6E8A-4147-A177-3AD203B41FA5}">
                      <a16:colId xmlns:a16="http://schemas.microsoft.com/office/drawing/2014/main" val="2633064719"/>
                    </a:ext>
                  </a:extLst>
                </a:gridCol>
                <a:gridCol w="1804984">
                  <a:extLst>
                    <a:ext uri="{9D8B030D-6E8A-4147-A177-3AD203B41FA5}">
                      <a16:colId xmlns:a16="http://schemas.microsoft.com/office/drawing/2014/main" val="185558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nl-NL" dirty="0"/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75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Telephone conversation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9/15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342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16/35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721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err="1"/>
                        <a:t>Written</a:t>
                      </a:r>
                      <a:r>
                        <a:rPr lang="nl-NL" dirty="0"/>
                        <a:t> </a:t>
                      </a:r>
                      <a:r>
                        <a:rPr lang="nl-NL" err="1"/>
                        <a:t>exam</a:t>
                      </a:r>
                      <a:endParaRPr lang="nl-NL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10/50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53386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 algn="l" defTabSz="914377" rtl="0" eaLnBrk="1" latinLnBrk="0" hangingPunct="1">
                        <a:buNone/>
                      </a:pPr>
                      <a:r>
                        <a:rPr lang="nl-NL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377" rtl="0" eaLnBrk="1" latinLnBrk="0" hangingPunct="1">
                        <a:buNone/>
                      </a:pPr>
                      <a:r>
                        <a:rPr lang="nl-NL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40/100 → 8/20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94792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nl-NL" sz="1800" b="1" i="0" u="none" strike="noStrike" kern="1200" noProof="0">
                          <a:solidFill>
                            <a:schemeClr val="lt1"/>
                          </a:solidFill>
                          <a:latin typeface="Calibri"/>
                        </a:rPr>
                        <a:t>→ </a:t>
                      </a:r>
                      <a:r>
                        <a:rPr lang="nl-NL" sz="1800" b="1" i="0" u="none" strike="noStrike" kern="1200" noProof="0" err="1">
                          <a:solidFill>
                            <a:schemeClr val="lt1"/>
                          </a:solidFill>
                          <a:latin typeface="Calibri"/>
                        </a:rPr>
                        <a:t>all</a:t>
                      </a:r>
                      <a:r>
                        <a:rPr lang="nl-NL" sz="1800" b="1" i="0" u="none" strike="noStrike" kern="1200" noProof="0" dirty="0">
                          <a:solidFill>
                            <a:schemeClr val="lt1"/>
                          </a:solidFill>
                          <a:latin typeface="Calibri"/>
                        </a:rPr>
                        <a:t> </a:t>
                      </a:r>
                      <a:r>
                        <a:rPr lang="nl-NL" sz="1800" b="1" i="0" u="none" strike="noStrike" kern="1200" noProof="0" err="1">
                          <a:solidFill>
                            <a:schemeClr val="lt1"/>
                          </a:solidFill>
                          <a:latin typeface="Calibri"/>
                        </a:rPr>
                        <a:t>evaluations</a:t>
                      </a:r>
                      <a:r>
                        <a:rPr lang="nl-NL" sz="1800" b="1" i="0" u="none" strike="noStrike" kern="1200" noProof="0">
                          <a:solidFill>
                            <a:schemeClr val="lt1"/>
                          </a:solidFill>
                          <a:latin typeface="Calibri"/>
                        </a:rPr>
                        <a:t> must </a:t>
                      </a:r>
                      <a:r>
                        <a:rPr lang="nl-NL" sz="1800" b="1" i="0" u="none" strike="noStrike" kern="1200" noProof="0" err="1">
                          <a:solidFill>
                            <a:schemeClr val="lt1"/>
                          </a:solidFill>
                          <a:latin typeface="Calibri"/>
                        </a:rPr>
                        <a:t>be</a:t>
                      </a:r>
                      <a:r>
                        <a:rPr lang="nl-NL" sz="1800" b="1" i="0" u="none" strike="noStrike" kern="1200" noProof="0" dirty="0">
                          <a:solidFill>
                            <a:schemeClr val="lt1"/>
                          </a:solidFill>
                          <a:latin typeface="Calibri"/>
                        </a:rPr>
                        <a:t> </a:t>
                      </a:r>
                      <a:r>
                        <a:rPr lang="nl-NL" sz="1800" b="1" i="0" u="none" strike="noStrike" kern="1200" noProof="0" err="1">
                          <a:solidFill>
                            <a:schemeClr val="lt1"/>
                          </a:solidFill>
                          <a:latin typeface="Calibri"/>
                        </a:rPr>
                        <a:t>done</a:t>
                      </a:r>
                      <a:r>
                        <a:rPr lang="nl-NL" sz="1800" b="1" i="0" u="none" strike="noStrike" kern="1200" noProof="0" dirty="0">
                          <a:solidFill>
                            <a:schemeClr val="lt1"/>
                          </a:solidFill>
                          <a:latin typeface="Calibri"/>
                        </a:rPr>
                        <a:t> </a:t>
                      </a:r>
                      <a:r>
                        <a:rPr lang="nl-NL" sz="1800" b="1" i="0" u="none" strike="noStrike" kern="1200" noProof="0" err="1">
                          <a:solidFill>
                            <a:schemeClr val="lt1"/>
                          </a:solidFill>
                          <a:latin typeface="Calibri"/>
                        </a:rPr>
                        <a:t>again</a:t>
                      </a:r>
                      <a:r>
                        <a:rPr lang="nl-NL" sz="1800" b="1" i="0" u="none" strike="noStrike" kern="1200" noProof="0">
                          <a:solidFill>
                            <a:schemeClr val="lt1"/>
                          </a:solidFill>
                          <a:latin typeface="Calibri"/>
                        </a:rPr>
                        <a:t> (telephone conversation + </a:t>
                      </a:r>
                      <a:r>
                        <a:rPr lang="nl-NL" sz="1800" b="1" i="0" u="none" strike="noStrike" kern="1200" noProof="0" err="1">
                          <a:solidFill>
                            <a:schemeClr val="lt1"/>
                          </a:solidFill>
                          <a:latin typeface="Calibri"/>
                        </a:rPr>
                        <a:t>presentation</a:t>
                      </a:r>
                      <a:r>
                        <a:rPr lang="nl-NL" sz="1800" b="1" i="0" u="none" strike="noStrike" kern="1200" noProof="0">
                          <a:solidFill>
                            <a:schemeClr val="lt1"/>
                          </a:solidFill>
                          <a:latin typeface="Calibri"/>
                        </a:rPr>
                        <a:t> + </a:t>
                      </a:r>
                      <a:r>
                        <a:rPr lang="nl-NL" sz="1800" b="1" i="0" u="none" strike="noStrike" kern="1200" noProof="0" err="1">
                          <a:solidFill>
                            <a:schemeClr val="lt1"/>
                          </a:solidFill>
                          <a:latin typeface="Calibri"/>
                        </a:rPr>
                        <a:t>written</a:t>
                      </a:r>
                      <a:r>
                        <a:rPr lang="nl-NL" sz="1800" b="1" i="0" u="none" strike="noStrike" kern="1200" noProof="0" dirty="0">
                          <a:solidFill>
                            <a:schemeClr val="lt1"/>
                          </a:solidFill>
                          <a:latin typeface="Calibri"/>
                        </a:rPr>
                        <a:t> </a:t>
                      </a:r>
                      <a:r>
                        <a:rPr lang="nl-NL" sz="1800" b="1" i="0" u="none" strike="noStrike" kern="1200" noProof="0" err="1">
                          <a:solidFill>
                            <a:schemeClr val="lt1"/>
                          </a:solidFill>
                          <a:latin typeface="Calibri"/>
                        </a:rPr>
                        <a:t>exam</a:t>
                      </a:r>
                      <a:r>
                        <a:rPr lang="nl-NL" sz="1800" b="1" i="0" u="none" strike="noStrike" kern="1200" noProof="0">
                          <a:solidFill>
                            <a:schemeClr val="lt1"/>
                          </a:solidFill>
                          <a:latin typeface="Calibri"/>
                        </a:rPr>
                        <a:t>)</a:t>
                      </a:r>
                      <a:endParaRPr lang="nl-NL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endParaRPr lang="nl-NL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061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82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54AC9-FA09-EC48-A0B3-A88BD8E8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91FA8-0F09-486F-8694-37C8C99D7D29}" type="slidenum">
              <a:rPr lang="nl-BE" altLang="nl-BE" smtClean="0"/>
              <a:pPr>
                <a:defRPr/>
              </a:pPr>
              <a:t>4</a:t>
            </a:fld>
            <a:endParaRPr lang="nl-BE" altLang="nl-BE"/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F51FE3E3-B975-DE4B-B242-645694AA9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248" y="134850"/>
            <a:ext cx="8712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F3F3F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defRPr/>
            </a:pPr>
            <a:r>
              <a:rPr lang="nl-BE" sz="3733">
                <a:solidFill>
                  <a:srgbClr val="AD0F0A"/>
                </a:solidFill>
                <a:latin typeface="Century Gothic" panose="020B0502020202020204" pitchFamily="34" charset="0"/>
                <a:ea typeface="+mj-ea"/>
                <a:cs typeface="+mj-cs"/>
              </a:rPr>
              <a:t>Evaluation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A30D6A1-98EE-9CED-8CFF-662EBC2907C4}"/>
              </a:ext>
            </a:extLst>
          </p:cNvPr>
          <p:cNvSpPr txBox="1"/>
          <p:nvPr/>
        </p:nvSpPr>
        <p:spPr>
          <a:xfrm>
            <a:off x="1329701" y="1148991"/>
            <a:ext cx="9918641" cy="5179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7965" indent="-227965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32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Writing</a:t>
            </a:r>
            <a:r>
              <a:rPr lang="nl-BE"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 (</a:t>
            </a:r>
            <a:r>
              <a:rPr lang="nl-BE" sz="32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exam</a:t>
            </a:r>
            <a:r>
              <a:rPr lang="nl-BE"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) 50%</a:t>
            </a:r>
          </a:p>
          <a:p>
            <a:pPr lvl="1" indent="-457200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Professional 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communication</a:t>
            </a:r>
            <a:endParaRPr lang="nl-BE" sz="28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lvl="1" indent="-457200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Planning </a:t>
            </a:r>
          </a:p>
          <a:p>
            <a:pPr lvl="1" indent="-457200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Defending your pov</a:t>
            </a:r>
            <a:endParaRPr lang="nl-BE" sz="28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lvl="1" indent="-457200" defTabSz="914377" eaLnBrk="1" hangingPunct="1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Sales &amp; </a:t>
            </a: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negotiations</a:t>
            </a:r>
            <a:endParaRPr lang="nl-BE" sz="28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lvl="1" indent="-457200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International, multicultural meetings + meeting minutes</a:t>
            </a:r>
          </a:p>
          <a:p>
            <a:pPr lvl="1" indent="-457200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Telephone conversations + online meetings &amp; tools</a:t>
            </a:r>
          </a:p>
          <a:p>
            <a:pPr lvl="1" indent="-457200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r>
              <a:rPr lang="nl-BE" sz="2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Conflict management</a:t>
            </a:r>
            <a:endParaRPr lang="nl-BE" sz="28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lvl="1" indent="-457200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,Sans-Serif" panose="020B0604020202020204" pitchFamily="34" charset="0"/>
              <a:buChar char="•"/>
            </a:pPr>
            <a:r>
              <a:rPr lang="nl-B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Arial"/>
              </a:rPr>
              <a:t>Writing</a:t>
            </a:r>
            <a:endParaRPr lang="nl-BE" sz="28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  <a:p>
            <a:pPr lvl="1" indent="-457200" defTabSz="914377">
              <a:lnSpc>
                <a:spcPct val="90000"/>
              </a:lnSpc>
              <a:spcBef>
                <a:spcPts val="1000"/>
              </a:spcBef>
              <a:buClr>
                <a:srgbClr val="AD0F0A"/>
              </a:buClr>
              <a:buFont typeface="Arial" panose="020B0604020202020204" pitchFamily="34" charset="0"/>
              <a:buChar char="•"/>
            </a:pPr>
            <a:endParaRPr lang="nl-BE" sz="28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3" name="Pijl: links 2">
            <a:extLst>
              <a:ext uri="{FF2B5EF4-FFF2-40B4-BE49-F238E27FC236}">
                <a16:creationId xmlns:a16="http://schemas.microsoft.com/office/drawing/2014/main" id="{5EBE552C-E4B8-A11B-D51B-F4FDF478458B}"/>
              </a:ext>
            </a:extLst>
          </p:cNvPr>
          <p:cNvSpPr/>
          <p:nvPr/>
        </p:nvSpPr>
        <p:spPr>
          <a:xfrm>
            <a:off x="8017430" y="913079"/>
            <a:ext cx="2732330" cy="803721"/>
          </a:xfrm>
          <a:prstGeom prst="leftArrow">
            <a:avLst/>
          </a:prstGeom>
          <a:solidFill>
            <a:srgbClr val="AD0F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err="1">
                <a:ea typeface="Calibri"/>
                <a:cs typeface="Calibri"/>
              </a:rPr>
              <a:t>During</a:t>
            </a:r>
            <a:r>
              <a:rPr lang="nl-NL">
                <a:ea typeface="Calibri"/>
                <a:cs typeface="Calibri"/>
              </a:rPr>
              <a:t> </a:t>
            </a:r>
            <a:r>
              <a:rPr lang="nl-NL" err="1">
                <a:ea typeface="Calibri"/>
                <a:cs typeface="Calibri"/>
              </a:rPr>
              <a:t>the</a:t>
            </a:r>
            <a:r>
              <a:rPr lang="nl-NL">
                <a:ea typeface="Calibri"/>
                <a:cs typeface="Calibri"/>
              </a:rPr>
              <a:t> </a:t>
            </a:r>
            <a:r>
              <a:rPr lang="nl-NL" err="1">
                <a:ea typeface="Calibri"/>
                <a:cs typeface="Calibri"/>
              </a:rPr>
              <a:t>exam</a:t>
            </a:r>
            <a:r>
              <a:rPr lang="nl-NL">
                <a:ea typeface="Calibri"/>
                <a:cs typeface="Calibri"/>
              </a:rPr>
              <a:t> </a:t>
            </a:r>
            <a:r>
              <a:rPr lang="nl-NL" err="1">
                <a:ea typeface="Calibri"/>
                <a:cs typeface="Calibri"/>
              </a:rPr>
              <a:t>period</a:t>
            </a:r>
            <a:endParaRPr lang="nl-NL" err="1"/>
          </a:p>
        </p:txBody>
      </p:sp>
    </p:spTree>
    <p:extLst>
      <p:ext uri="{BB962C8B-B14F-4D97-AF65-F5344CB8AC3E}">
        <p14:creationId xmlns:p14="http://schemas.microsoft.com/office/powerpoint/2010/main" val="395562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C5CCDF-73D7-6359-CD90-C1346D49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Study</a:t>
            </a:r>
            <a:r>
              <a:rPr lang="nl-NL" sz="3700">
                <a:latin typeface="Century Gothic"/>
              </a:rPr>
              <a:t> </a:t>
            </a:r>
            <a:r>
              <a:rPr lang="nl-NL" sz="3700" err="1">
                <a:latin typeface="Century Gothic"/>
              </a:rPr>
              <a:t>material</a:t>
            </a:r>
            <a:endParaRPr lang="nl-NL" err="1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D20D4D-0760-9D39-3C94-50B78F869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nl-NL">
                <a:latin typeface="Arial"/>
                <a:cs typeface="Arial"/>
              </a:rPr>
              <a:t>PowerPoint </a:t>
            </a:r>
            <a:r>
              <a:rPr lang="nl-NL" err="1">
                <a:latin typeface="Arial"/>
                <a:cs typeface="Arial"/>
              </a:rPr>
              <a:t>presentations</a:t>
            </a:r>
            <a:r>
              <a:rPr lang="nl-NL">
                <a:latin typeface="Arial"/>
                <a:cs typeface="Arial"/>
              </a:rPr>
              <a:t>. </a:t>
            </a:r>
            <a:endParaRPr lang="nl-NL"/>
          </a:p>
          <a:p>
            <a:pPr marL="227965" indent="-227965"/>
            <a:r>
              <a:rPr lang="nl-NL" err="1">
                <a:latin typeface="Arial"/>
                <a:cs typeface="Arial"/>
              </a:rPr>
              <a:t>Your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own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notes</a:t>
            </a:r>
            <a:r>
              <a:rPr lang="nl-NL">
                <a:latin typeface="Arial"/>
                <a:cs typeface="Arial"/>
              </a:rPr>
              <a:t>.</a:t>
            </a:r>
            <a:endParaRPr lang="nl-NL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 err="1">
                <a:latin typeface="Arial"/>
                <a:cs typeface="Arial"/>
              </a:rPr>
              <a:t>Everything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that</a:t>
            </a:r>
            <a:r>
              <a:rPr lang="nl-NL">
                <a:latin typeface="Arial"/>
                <a:cs typeface="Arial"/>
              </a:rPr>
              <a:t> was </a:t>
            </a:r>
            <a:r>
              <a:rPr lang="nl-NL" err="1">
                <a:latin typeface="Arial"/>
                <a:cs typeface="Arial"/>
              </a:rPr>
              <a:t>said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and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practiced</a:t>
            </a:r>
            <a:r>
              <a:rPr lang="nl-NL">
                <a:latin typeface="Arial"/>
                <a:cs typeface="Arial"/>
              </a:rPr>
              <a:t> in class is </a:t>
            </a:r>
            <a:r>
              <a:rPr lang="nl-NL" err="1">
                <a:latin typeface="Arial"/>
                <a:cs typeface="Arial"/>
              </a:rPr>
              <a:t>also</a:t>
            </a:r>
            <a:r>
              <a:rPr lang="nl-NL">
                <a:latin typeface="Arial"/>
                <a:cs typeface="Arial"/>
              </a:rPr>
              <a:t> part of </a:t>
            </a:r>
            <a:r>
              <a:rPr lang="nl-NL" err="1">
                <a:latin typeface="Arial"/>
                <a:cs typeface="Arial"/>
              </a:rPr>
              <a:t>the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study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material</a:t>
            </a:r>
            <a:r>
              <a:rPr lang="nl-NL">
                <a:latin typeface="Arial"/>
                <a:cs typeface="Arial"/>
              </a:rPr>
              <a:t>!!!</a:t>
            </a:r>
          </a:p>
          <a:p>
            <a:pPr marL="227965" indent="-227965"/>
            <a:r>
              <a:rPr lang="nl-NL" err="1">
                <a:latin typeface="Arial"/>
                <a:cs typeface="Arial"/>
              </a:rPr>
              <a:t>Actively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participating</a:t>
            </a:r>
            <a:r>
              <a:rPr lang="nl-NL">
                <a:latin typeface="Arial"/>
                <a:cs typeface="Arial"/>
              </a:rPr>
              <a:t> in class. </a:t>
            </a:r>
            <a:endParaRPr lang="nl-NL"/>
          </a:p>
          <a:p>
            <a:pPr marL="227965" indent="-227965"/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B2D20D-EEAA-EA2F-50D7-55CCE52D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5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04256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EDBA4A-FB0B-E54F-F867-AB0A12D7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</a:t>
            </a:r>
            <a:r>
              <a:rPr lang="nl-NL" sz="3700" err="1">
                <a:latin typeface="Century Gothic"/>
              </a:rPr>
              <a:t>preparation</a:t>
            </a:r>
            <a:endParaRPr lang="nl-NL" sz="3700" err="1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05FFA0-351E-9CDB-9A76-D0FFD03B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894" y="1284489"/>
            <a:ext cx="10515600" cy="493677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27965" indent="-227965"/>
            <a:r>
              <a:rPr lang="nl-NL">
                <a:latin typeface="Arial"/>
                <a:cs typeface="Arial"/>
              </a:rPr>
              <a:t>Types of </a:t>
            </a:r>
            <a:r>
              <a:rPr lang="nl-NL" err="1">
                <a:latin typeface="Arial"/>
                <a:cs typeface="Arial"/>
              </a:rPr>
              <a:t>questions</a:t>
            </a:r>
            <a:endParaRPr lang="nl-NL" err="1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>
                <a:latin typeface="Arial"/>
                <a:cs typeface="Arial"/>
              </a:rPr>
              <a:t>Multiple-</a:t>
            </a:r>
            <a:r>
              <a:rPr lang="nl-NL" err="1">
                <a:latin typeface="Arial"/>
                <a:cs typeface="Arial"/>
              </a:rPr>
              <a:t>choice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questions</a:t>
            </a:r>
            <a:endParaRPr lang="nl-NL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>
                <a:latin typeface="Arial"/>
                <a:cs typeface="Arial"/>
              </a:rPr>
              <a:t>Open-</a:t>
            </a:r>
            <a:r>
              <a:rPr lang="nl-NL" err="1">
                <a:latin typeface="Arial"/>
                <a:cs typeface="Arial"/>
              </a:rPr>
              <a:t>ended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questions</a:t>
            </a:r>
            <a:r>
              <a:rPr lang="nl-NL">
                <a:latin typeface="Arial"/>
                <a:cs typeface="Arial"/>
              </a:rPr>
              <a:t> </a:t>
            </a:r>
            <a:endParaRPr lang="nl-NL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 err="1">
                <a:latin typeface="Arial"/>
                <a:cs typeface="Arial"/>
              </a:rPr>
              <a:t>Insight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questions</a:t>
            </a:r>
            <a:endParaRPr lang="nl-NL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 err="1">
                <a:latin typeface="Arial"/>
                <a:cs typeface="Arial"/>
              </a:rPr>
              <a:t>Reflection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questions</a:t>
            </a:r>
            <a:r>
              <a:rPr lang="nl-NL">
                <a:latin typeface="Arial"/>
                <a:cs typeface="Arial"/>
              </a:rPr>
              <a:t> </a:t>
            </a:r>
            <a:endParaRPr lang="nl-NL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>
                <a:latin typeface="Arial"/>
                <a:cs typeface="Arial"/>
              </a:rPr>
              <a:t>Knowledge </a:t>
            </a:r>
            <a:r>
              <a:rPr lang="nl-NL" err="1">
                <a:latin typeface="Arial"/>
                <a:cs typeface="Arial"/>
              </a:rPr>
              <a:t>questions</a:t>
            </a:r>
            <a:endParaRPr lang="nl-NL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 err="1">
                <a:latin typeface="Arial"/>
                <a:cs typeface="Arial"/>
              </a:rPr>
              <a:t>Grammar</a:t>
            </a:r>
            <a:endParaRPr lang="nl-NL">
              <a:latin typeface="Arial"/>
              <a:cs typeface="Arial"/>
            </a:endParaRPr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>
                <a:latin typeface="Arial"/>
                <a:cs typeface="Arial"/>
              </a:rPr>
              <a:t>Spelling </a:t>
            </a:r>
          </a:p>
          <a:p>
            <a:pPr marL="0" indent="0">
              <a:buNone/>
            </a:pPr>
            <a:r>
              <a:rPr lang="nl-NL">
                <a:latin typeface="Arial"/>
                <a:cs typeface="Arial"/>
              </a:rPr>
              <a:t>→ </a:t>
            </a:r>
            <a:r>
              <a:rPr lang="nl-NL" err="1">
                <a:latin typeface="Arial"/>
                <a:cs typeface="Arial"/>
              </a:rPr>
              <a:t>knowledge</a:t>
            </a:r>
            <a:r>
              <a:rPr lang="nl-NL">
                <a:latin typeface="Arial"/>
                <a:cs typeface="Arial"/>
              </a:rPr>
              <a:t>, </a:t>
            </a:r>
            <a:r>
              <a:rPr lang="nl-NL" err="1">
                <a:latin typeface="Arial"/>
                <a:cs typeface="Arial"/>
              </a:rPr>
              <a:t>application</a:t>
            </a:r>
            <a:r>
              <a:rPr lang="nl-NL">
                <a:latin typeface="Arial"/>
                <a:cs typeface="Arial"/>
              </a:rPr>
              <a:t>, </a:t>
            </a:r>
            <a:r>
              <a:rPr lang="nl-NL" err="1">
                <a:latin typeface="Arial"/>
                <a:cs typeface="Arial"/>
              </a:rPr>
              <a:t>insight</a:t>
            </a:r>
            <a:endParaRPr lang="nl-NL" err="1"/>
          </a:p>
          <a:p>
            <a:pPr marL="0" indent="0">
              <a:buNone/>
            </a:pPr>
            <a:r>
              <a:rPr lang="nl-NL">
                <a:latin typeface="Arial"/>
                <a:cs typeface="Arial"/>
              </a:rPr>
              <a:t>→ </a:t>
            </a:r>
            <a:r>
              <a:rPr lang="nl-NL" err="1">
                <a:latin typeface="Arial"/>
                <a:cs typeface="Arial"/>
              </a:rPr>
              <a:t>understanding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the</a:t>
            </a:r>
            <a:r>
              <a:rPr lang="nl-NL">
                <a:latin typeface="Arial"/>
                <a:cs typeface="Arial"/>
              </a:rPr>
              <a:t> course</a:t>
            </a:r>
          </a:p>
          <a:p>
            <a:pPr marL="0" indent="0">
              <a:buNone/>
            </a:pPr>
            <a:endParaRPr lang="nl-NL">
              <a:latin typeface="Arial"/>
              <a:cs typeface="Arial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11F48F0-F82A-C6DF-A02F-6B7511AD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6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49534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69C60-BE84-9DA5-73D2-C3DBE71B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F66FD8-8A05-A269-629E-56443AE5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</a:t>
            </a:r>
            <a:r>
              <a:rPr lang="nl-NL" sz="3700" err="1">
                <a:latin typeface="Century Gothic"/>
              </a:rPr>
              <a:t>preparation</a:t>
            </a:r>
            <a:r>
              <a:rPr lang="nl-NL" sz="3700">
                <a:latin typeface="Century Gothic"/>
              </a:rPr>
              <a:t> - </a:t>
            </a:r>
            <a:r>
              <a:rPr lang="nl-NL" sz="3700" err="1">
                <a:latin typeface="Century Gothic"/>
              </a:rPr>
              <a:t>knowledge</a:t>
            </a:r>
            <a:endParaRPr lang="nl-NL" sz="3700" err="1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604F92-B27F-2037-0C2A-CD1B138B2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nl-NL">
                <a:latin typeface="Arial"/>
                <a:cs typeface="Arial"/>
              </a:rPr>
              <a:t>Knowledge = </a:t>
            </a:r>
            <a:r>
              <a:rPr lang="nl-NL" err="1">
                <a:latin typeface="Arial"/>
                <a:cs typeface="Arial"/>
              </a:rPr>
              <a:t>studying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and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understanding</a:t>
            </a:r>
            <a:r>
              <a:rPr lang="nl-NL">
                <a:latin typeface="Arial"/>
                <a:cs typeface="Arial"/>
              </a:rPr>
              <a:t> </a:t>
            </a:r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 i="1" err="1">
                <a:latin typeface="Arial"/>
                <a:cs typeface="Arial"/>
              </a:rPr>
              <a:t>Why</a:t>
            </a:r>
            <a:r>
              <a:rPr lang="nl-NL" i="1">
                <a:latin typeface="Arial"/>
                <a:cs typeface="Arial"/>
              </a:rPr>
              <a:t> is </a:t>
            </a:r>
            <a:r>
              <a:rPr lang="nl-NL" i="1" err="1">
                <a:latin typeface="Arial"/>
                <a:cs typeface="Arial"/>
              </a:rPr>
              <a:t>documentation</a:t>
            </a:r>
            <a:r>
              <a:rPr lang="nl-NL" i="1">
                <a:latin typeface="Arial"/>
                <a:cs typeface="Arial"/>
              </a:rPr>
              <a:t> important in </a:t>
            </a:r>
            <a:r>
              <a:rPr lang="nl-NL" i="1" err="1">
                <a:latin typeface="Arial"/>
                <a:cs typeface="Arial"/>
              </a:rPr>
              <a:t>negotiations</a:t>
            </a:r>
            <a:r>
              <a:rPr lang="nl-NL" i="1">
                <a:latin typeface="Arial"/>
                <a:cs typeface="Arial"/>
              </a:rPr>
              <a:t>?</a:t>
            </a:r>
            <a:endParaRPr lang="nl-NL" i="1"/>
          </a:p>
          <a:p>
            <a:pPr marL="227965" indent="-227965"/>
            <a:endParaRPr lang="nl-NL">
              <a:latin typeface="Arial"/>
              <a:cs typeface="Arial"/>
            </a:endParaRPr>
          </a:p>
          <a:p>
            <a:pPr marL="227965" indent="-227965"/>
            <a:endParaRPr lang="nl-NL">
              <a:latin typeface="Arial"/>
              <a:cs typeface="Arial"/>
            </a:endParaRPr>
          </a:p>
          <a:p>
            <a:pPr marL="227965" indent="-227965"/>
            <a:endParaRPr lang="nl-NL">
              <a:latin typeface="Arial"/>
              <a:cs typeface="Arial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D98713E-65B6-C63F-FE0F-9A59BC4E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7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324927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8C86-9E9D-B8DA-0159-4FE0838A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2EE866-881A-60A7-B318-13E447FF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</a:t>
            </a:r>
            <a:r>
              <a:rPr lang="nl-NL" sz="3700" err="1">
                <a:latin typeface="Century Gothic"/>
              </a:rPr>
              <a:t>preparation</a:t>
            </a:r>
            <a:r>
              <a:rPr lang="nl-NL" sz="3700">
                <a:latin typeface="Century Gothic"/>
              </a:rPr>
              <a:t> - </a:t>
            </a:r>
            <a:r>
              <a:rPr lang="nl-NL" sz="3700" err="1">
                <a:latin typeface="Century Gothic"/>
              </a:rPr>
              <a:t>knowledge</a:t>
            </a:r>
            <a:endParaRPr lang="nl-NL" sz="3700" err="1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25FC4C2-55D9-40D2-99E2-CA3DBF409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 algn="just"/>
            <a:r>
              <a:rPr lang="nl-NL">
                <a:latin typeface="Arial"/>
                <a:cs typeface="Arial"/>
              </a:rPr>
              <a:t>"</a:t>
            </a:r>
            <a:r>
              <a:rPr lang="nl-NL" err="1">
                <a:latin typeface="Arial"/>
                <a:cs typeface="Arial"/>
              </a:rPr>
              <a:t>Why</a:t>
            </a:r>
            <a:r>
              <a:rPr lang="nl-NL">
                <a:latin typeface="Arial"/>
                <a:cs typeface="Arial"/>
              </a:rPr>
              <a:t> is </a:t>
            </a:r>
            <a:r>
              <a:rPr lang="nl-NL" err="1">
                <a:latin typeface="Arial"/>
                <a:cs typeface="Arial"/>
              </a:rPr>
              <a:t>documentation</a:t>
            </a:r>
            <a:r>
              <a:rPr lang="nl-NL">
                <a:latin typeface="Arial"/>
                <a:cs typeface="Arial"/>
              </a:rPr>
              <a:t> important in </a:t>
            </a:r>
            <a:r>
              <a:rPr lang="nl-NL" err="1">
                <a:latin typeface="Arial"/>
                <a:cs typeface="Arial"/>
              </a:rPr>
              <a:t>negotiations</a:t>
            </a:r>
            <a:r>
              <a:rPr lang="nl-NL">
                <a:latin typeface="Arial"/>
                <a:cs typeface="Arial"/>
              </a:rPr>
              <a:t>?"</a:t>
            </a:r>
            <a:endParaRPr lang="nl-NL"/>
          </a:p>
          <a:p>
            <a:pPr marL="0" indent="0" algn="just">
              <a:buNone/>
            </a:pPr>
            <a:r>
              <a:rPr lang="nl-NL">
                <a:latin typeface="Arial"/>
                <a:cs typeface="Arial"/>
              </a:rPr>
              <a:t>→ link </a:t>
            </a:r>
            <a:r>
              <a:rPr lang="nl-NL" err="1">
                <a:latin typeface="Arial"/>
                <a:cs typeface="Arial"/>
              </a:rPr>
              <a:t>negotiations</a:t>
            </a:r>
            <a:r>
              <a:rPr lang="nl-NL">
                <a:latin typeface="Arial"/>
                <a:cs typeface="Arial"/>
              </a:rPr>
              <a:t> + meeting minutes</a:t>
            </a:r>
          </a:p>
          <a:p>
            <a:pPr marL="0" indent="0" algn="just">
              <a:buNone/>
            </a:pPr>
            <a:r>
              <a:rPr lang="nl-NL">
                <a:latin typeface="Arial"/>
                <a:cs typeface="Arial"/>
              </a:rPr>
              <a:t>→ </a:t>
            </a:r>
            <a:r>
              <a:rPr lang="nl-NL" err="1">
                <a:latin typeface="Arial"/>
                <a:cs typeface="Arial"/>
              </a:rPr>
              <a:t>write</a:t>
            </a:r>
            <a:r>
              <a:rPr lang="nl-NL">
                <a:latin typeface="Arial"/>
                <a:cs typeface="Arial"/>
              </a:rPr>
              <a:t> in </a:t>
            </a:r>
            <a:r>
              <a:rPr lang="nl-NL" b="1">
                <a:latin typeface="Arial"/>
                <a:cs typeface="Arial"/>
              </a:rPr>
              <a:t>full </a:t>
            </a:r>
            <a:r>
              <a:rPr lang="nl-NL" b="1" err="1">
                <a:latin typeface="Arial"/>
                <a:cs typeface="Arial"/>
              </a:rPr>
              <a:t>sentences</a:t>
            </a:r>
            <a:r>
              <a:rPr lang="nl-NL">
                <a:latin typeface="Arial"/>
                <a:cs typeface="Arial"/>
              </a:rPr>
              <a:t>!! </a:t>
            </a:r>
          </a:p>
          <a:p>
            <a:pPr marL="0" indent="0" algn="just">
              <a:buNone/>
            </a:pPr>
            <a:r>
              <a:rPr lang="nl-NL">
                <a:latin typeface="Arial"/>
                <a:cs typeface="Arial"/>
              </a:rPr>
              <a:t>→ </a:t>
            </a:r>
            <a:r>
              <a:rPr lang="nl-NL" err="1">
                <a:latin typeface="Arial"/>
                <a:cs typeface="Arial"/>
              </a:rPr>
              <a:t>you</a:t>
            </a:r>
            <a:r>
              <a:rPr lang="nl-NL">
                <a:latin typeface="Arial"/>
                <a:cs typeface="Arial"/>
              </a:rPr>
              <a:t> have </a:t>
            </a:r>
            <a:r>
              <a:rPr lang="nl-NL" err="1">
                <a:latin typeface="Arial"/>
                <a:cs typeface="Arial"/>
              </a:rPr>
              <a:t>to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b="1">
                <a:latin typeface="Arial"/>
                <a:cs typeface="Arial"/>
              </a:rPr>
              <a:t>understand </a:t>
            </a:r>
            <a:r>
              <a:rPr lang="nl-NL" err="1">
                <a:latin typeface="Arial"/>
                <a:cs typeface="Arial"/>
              </a:rPr>
              <a:t>and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b="1" err="1">
                <a:latin typeface="Arial"/>
                <a:cs typeface="Arial"/>
              </a:rPr>
              <a:t>explain</a:t>
            </a:r>
            <a:r>
              <a:rPr lang="nl-NL" b="1">
                <a:latin typeface="Arial"/>
                <a:cs typeface="Arial"/>
              </a:rPr>
              <a:t> in </a:t>
            </a:r>
            <a:r>
              <a:rPr lang="nl-NL" b="1" err="1">
                <a:latin typeface="Arial"/>
                <a:cs typeface="Arial"/>
              </a:rPr>
              <a:t>your</a:t>
            </a:r>
            <a:r>
              <a:rPr lang="nl-NL" b="1">
                <a:latin typeface="Arial"/>
                <a:cs typeface="Arial"/>
              </a:rPr>
              <a:t> </a:t>
            </a:r>
            <a:r>
              <a:rPr lang="nl-NL" b="1" err="1">
                <a:latin typeface="Arial"/>
                <a:cs typeface="Arial"/>
              </a:rPr>
              <a:t>own</a:t>
            </a:r>
            <a:r>
              <a:rPr lang="nl-NL" b="1">
                <a:latin typeface="Arial"/>
                <a:cs typeface="Arial"/>
              </a:rPr>
              <a:t> </a:t>
            </a:r>
            <a:r>
              <a:rPr lang="nl-NL" b="1" err="1">
                <a:latin typeface="Arial"/>
                <a:cs typeface="Arial"/>
              </a:rPr>
              <a:t>words</a:t>
            </a:r>
            <a:r>
              <a:rPr lang="nl-NL" b="1">
                <a:latin typeface="Arial"/>
                <a:cs typeface="Arial"/>
              </a:rPr>
              <a:t> </a:t>
            </a:r>
            <a:r>
              <a:rPr lang="nl-NL" err="1">
                <a:latin typeface="Arial"/>
                <a:cs typeface="Arial"/>
              </a:rPr>
              <a:t>what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we've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seen</a:t>
            </a:r>
            <a:r>
              <a:rPr lang="nl-NL">
                <a:latin typeface="Arial"/>
                <a:cs typeface="Arial"/>
              </a:rPr>
              <a:t>, </a:t>
            </a:r>
            <a:r>
              <a:rPr lang="nl-NL" err="1">
                <a:latin typeface="Arial"/>
                <a:cs typeface="Arial"/>
              </a:rPr>
              <a:t>don't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just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study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by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heart</a:t>
            </a:r>
            <a:r>
              <a:rPr lang="nl-NL">
                <a:latin typeface="Arial"/>
                <a:cs typeface="Arial"/>
              </a:rPr>
              <a:t> without </a:t>
            </a:r>
            <a:r>
              <a:rPr lang="nl-NL" err="1">
                <a:latin typeface="Arial"/>
                <a:cs typeface="Arial"/>
              </a:rPr>
              <a:t>understanding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it</a:t>
            </a:r>
            <a:r>
              <a:rPr lang="nl-NL">
                <a:latin typeface="Arial"/>
                <a:cs typeface="Arial"/>
              </a:rPr>
              <a:t>!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242D750-1CE8-5E21-214E-F9A4D241F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8</a:t>
            </a:fld>
            <a:endParaRPr lang="nl-BE" altLang="nl-BE"/>
          </a:p>
        </p:txBody>
      </p:sp>
      <p:pic>
        <p:nvPicPr>
          <p:cNvPr id="5" name="Afbeelding 4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C97B1938-9449-1904-82C7-C7F222D56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195" y="4517496"/>
            <a:ext cx="4959888" cy="216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40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202EC-EC0A-C1A9-FAB5-F4ABAEFC2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681"/>
            <a:ext cx="10515600" cy="43513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750"/>
              </a:spcBef>
              <a:buFont typeface="Arial,Sans-Serif" panose="020B0604020202020204" pitchFamily="34" charset="0"/>
            </a:pPr>
            <a:r>
              <a:rPr lang="en-US" sz="2400">
                <a:latin typeface="Arial"/>
                <a:cs typeface="Arial"/>
              </a:rPr>
              <a:t>In which quadrant of the Eisenhower Matrix would this situation fall: you are going on a business trip next month. Your visa has expired and you need to get a new one, waiting time is approximately 3 weeks. </a:t>
            </a:r>
            <a:endParaRPr lang="en-US" sz="2400" dirty="0"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750"/>
              </a:spcBef>
              <a:buFont typeface="Arial,Sans-Serif" panose="020B0604020202020204" pitchFamily="34" charset="0"/>
            </a:pPr>
            <a:r>
              <a:rPr lang="en-US" sz="2400">
                <a:latin typeface="Arial"/>
                <a:cs typeface="Arial"/>
              </a:rPr>
              <a:t>Explain what a BATNA is. </a:t>
            </a:r>
            <a:endParaRPr lang="en-US" sz="2400" dirty="0"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ts val="750"/>
              </a:spcBef>
              <a:buFont typeface="Arial,Sans-Serif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Which Thomas Kilmann style would be most appropriate in this situation? </a:t>
            </a:r>
          </a:p>
          <a:p>
            <a:pPr marL="685800" lvl="1" indent="-342900">
              <a:lnSpc>
                <a:spcPct val="150000"/>
              </a:lnSpc>
              <a:spcBef>
                <a:spcPts val="375"/>
              </a:spcBef>
              <a:buFont typeface="Courier New,monospace" panose="020B0604020202020204" pitchFamily="34" charset="0"/>
              <a:buChar char="o"/>
            </a:pPr>
            <a:r>
              <a:rPr lang="en-US" sz="2400" dirty="0">
                <a:latin typeface="Arial"/>
                <a:cs typeface="Arial"/>
              </a:rPr>
              <a:t>Two students argue about code formatting, but it won’t affect the project grade. You need to focus on more pressing matters. </a:t>
            </a:r>
          </a:p>
          <a:p>
            <a:pPr marL="685800" lvl="1" indent="-342900">
              <a:lnSpc>
                <a:spcPct val="150000"/>
              </a:lnSpc>
              <a:spcBef>
                <a:spcPts val="375"/>
              </a:spcBef>
              <a:buFont typeface="Courier New,monospace" panose="020B0604020202020204" pitchFamily="34" charset="0"/>
              <a:buChar char="o"/>
            </a:pP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20A48-58F0-0A18-41CC-48888D8A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9</a:t>
            </a:fld>
            <a:endParaRPr lang="nl-BE" altLang="nl-B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E1B6EA9-56DB-D411-DEAC-0E697BD6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857"/>
            <a:ext cx="10515600" cy="600735"/>
          </a:xfrm>
        </p:spPr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</a:t>
            </a:r>
            <a:r>
              <a:rPr lang="nl-NL" sz="3700" err="1">
                <a:latin typeface="Century Gothic"/>
              </a:rPr>
              <a:t>preparation</a:t>
            </a:r>
            <a:r>
              <a:rPr lang="nl-NL" sz="3700">
                <a:latin typeface="Century Gothic"/>
              </a:rPr>
              <a:t> - </a:t>
            </a:r>
            <a:r>
              <a:rPr lang="nl-NL" sz="3700" err="1">
                <a:latin typeface="Century Gothic"/>
              </a:rPr>
              <a:t>knowledge</a:t>
            </a:r>
            <a:endParaRPr lang="nl-NL" sz="3700" err="1"/>
          </a:p>
        </p:txBody>
      </p:sp>
    </p:spTree>
    <p:extLst>
      <p:ext uri="{BB962C8B-B14F-4D97-AF65-F5344CB8AC3E}">
        <p14:creationId xmlns:p14="http://schemas.microsoft.com/office/powerpoint/2010/main" val="79871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20215-27DC-A515-5F7A-0609E744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</a:t>
            </a:r>
            <a:r>
              <a:rPr lang="nl-NL" sz="3700" err="1">
                <a:latin typeface="Century Gothic"/>
              </a:rPr>
              <a:t>preparation</a:t>
            </a:r>
            <a:r>
              <a:rPr lang="nl-NL" sz="3700">
                <a:latin typeface="Century Gothic"/>
              </a:rPr>
              <a:t> - </a:t>
            </a:r>
            <a:r>
              <a:rPr lang="nl-NL" sz="3700" err="1">
                <a:latin typeface="Century Gothic"/>
              </a:rPr>
              <a:t>application</a:t>
            </a:r>
            <a:endParaRPr lang="nl-NL" err="1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EDDE543-000A-E7A6-40E3-ED7CDF941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nl-NL">
                <a:latin typeface="Arial"/>
                <a:cs typeface="Arial"/>
              </a:rPr>
              <a:t>Application = </a:t>
            </a:r>
            <a:r>
              <a:rPr lang="nl-NL" err="1">
                <a:latin typeface="Arial"/>
                <a:cs typeface="Arial"/>
              </a:rPr>
              <a:t>applying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the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theoretical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knowledge</a:t>
            </a:r>
            <a:r>
              <a:rPr lang="nl-NL">
                <a:latin typeface="Arial"/>
                <a:cs typeface="Arial"/>
              </a:rPr>
              <a:t> on real-life scenario's.</a:t>
            </a:r>
          </a:p>
          <a:p>
            <a:pPr marL="685165" lvl="1" indent="-227965" algn="just">
              <a:buFont typeface="Courier New,monospace" panose="020B0604020202020204" pitchFamily="34" charset="0"/>
              <a:buChar char="o"/>
            </a:pPr>
            <a:r>
              <a:rPr lang="nl-NL" i="1">
                <a:latin typeface="Arial"/>
                <a:cs typeface="Arial"/>
              </a:rPr>
              <a:t>An </a:t>
            </a:r>
            <a:r>
              <a:rPr lang="nl-NL" i="1" err="1">
                <a:latin typeface="Arial"/>
                <a:cs typeface="Arial"/>
              </a:rPr>
              <a:t>international</a:t>
            </a:r>
            <a:r>
              <a:rPr lang="nl-NL" i="1">
                <a:latin typeface="Arial"/>
                <a:cs typeface="Arial"/>
              </a:rPr>
              <a:t> team of software </a:t>
            </a:r>
            <a:r>
              <a:rPr lang="nl-NL" i="1" err="1">
                <a:latin typeface="Arial"/>
                <a:cs typeface="Arial"/>
              </a:rPr>
              <a:t>developers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struggles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with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miscommunication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during</a:t>
            </a:r>
            <a:r>
              <a:rPr lang="nl-NL" i="1">
                <a:latin typeface="Arial"/>
                <a:cs typeface="Arial"/>
              </a:rPr>
              <a:t> meetings, </a:t>
            </a:r>
            <a:r>
              <a:rPr lang="nl-NL" i="1" err="1">
                <a:latin typeface="Arial"/>
                <a:cs typeface="Arial"/>
              </a:rPr>
              <a:t>leading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to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missed</a:t>
            </a:r>
            <a:r>
              <a:rPr lang="nl-NL" i="1">
                <a:latin typeface="Arial"/>
                <a:cs typeface="Arial"/>
              </a:rPr>
              <a:t> deadlines </a:t>
            </a:r>
            <a:r>
              <a:rPr lang="nl-NL" i="1" err="1">
                <a:latin typeface="Arial"/>
                <a:cs typeface="Arial"/>
              </a:rPr>
              <a:t>and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unclear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requirements</a:t>
            </a:r>
            <a:r>
              <a:rPr lang="nl-NL" i="1">
                <a:latin typeface="Arial"/>
                <a:cs typeface="Arial"/>
              </a:rPr>
              <a:t>. </a:t>
            </a:r>
            <a:r>
              <a:rPr lang="nl-NL" i="1" err="1">
                <a:latin typeface="Arial"/>
                <a:cs typeface="Arial"/>
              </a:rPr>
              <a:t>Explain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how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active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listening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and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inclusive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communication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can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improve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collaboration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and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explain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how</a:t>
            </a:r>
            <a:r>
              <a:rPr lang="nl-NL" i="1">
                <a:latin typeface="Arial"/>
                <a:cs typeface="Arial"/>
              </a:rPr>
              <a:t> digital meeting tools </a:t>
            </a:r>
            <a:r>
              <a:rPr lang="nl-NL" i="1" err="1">
                <a:latin typeface="Arial"/>
                <a:cs typeface="Arial"/>
              </a:rPr>
              <a:t>can</a:t>
            </a:r>
            <a:r>
              <a:rPr lang="nl-NL" i="1">
                <a:latin typeface="Arial"/>
                <a:cs typeface="Arial"/>
              </a:rPr>
              <a:t> support these </a:t>
            </a:r>
            <a:r>
              <a:rPr lang="nl-NL" i="1" err="1">
                <a:latin typeface="Arial"/>
                <a:cs typeface="Arial"/>
              </a:rPr>
              <a:t>strategies</a:t>
            </a:r>
            <a:r>
              <a:rPr lang="nl-NL" i="1">
                <a:latin typeface="Arial"/>
                <a:cs typeface="Arial"/>
              </a:rPr>
              <a:t>.</a:t>
            </a:r>
            <a:endParaRPr lang="en-US">
              <a:solidFill>
                <a:srgbClr val="404040"/>
              </a:solidFill>
              <a:latin typeface="Arial"/>
              <a:cs typeface="Arial"/>
            </a:endParaRPr>
          </a:p>
          <a:p>
            <a:pPr marL="685165" lvl="1" indent="-227965"/>
            <a:endParaRPr lang="nl-NL" i="1">
              <a:latin typeface="Arial"/>
              <a:cs typeface="Arial"/>
            </a:endParaRPr>
          </a:p>
          <a:p>
            <a:pPr marL="685165" lvl="1" indent="-227965">
              <a:buFont typeface="Courier New" panose="020B0604020202020204" pitchFamily="34" charset="0"/>
              <a:buChar char="o"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1FB488D-9376-10DF-378E-5F712C21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10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08622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40246-47E5-7494-A8B0-54053890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</a:t>
            </a:r>
            <a:r>
              <a:rPr lang="nl-NL" sz="3700" err="1">
                <a:latin typeface="Century Gothic"/>
              </a:rPr>
              <a:t>preparation</a:t>
            </a:r>
            <a:r>
              <a:rPr lang="nl-NL" sz="3700">
                <a:latin typeface="Century Gothic"/>
              </a:rPr>
              <a:t> - </a:t>
            </a:r>
            <a:r>
              <a:rPr lang="nl-NL" sz="3700" err="1">
                <a:latin typeface="Century Gothic"/>
              </a:rPr>
              <a:t>insight</a:t>
            </a:r>
            <a:endParaRPr lang="nl-NL" err="1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0411EEE-F76B-3E9B-DFB5-6644D88B2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nl-NL" err="1">
                <a:latin typeface="Arial"/>
                <a:cs typeface="Arial"/>
              </a:rPr>
              <a:t>Insight</a:t>
            </a:r>
            <a:r>
              <a:rPr lang="nl-NL">
                <a:latin typeface="Arial"/>
                <a:cs typeface="Arial"/>
              </a:rPr>
              <a:t> = thinking </a:t>
            </a:r>
            <a:r>
              <a:rPr lang="nl-NL" err="1">
                <a:latin typeface="Arial"/>
                <a:cs typeface="Arial"/>
              </a:rPr>
              <a:t>critically</a:t>
            </a:r>
            <a:r>
              <a:rPr lang="nl-NL">
                <a:latin typeface="Arial"/>
                <a:cs typeface="Arial"/>
              </a:rPr>
              <a:t>, form links </a:t>
            </a:r>
            <a:r>
              <a:rPr lang="nl-NL" err="1">
                <a:latin typeface="Arial"/>
                <a:cs typeface="Arial"/>
              </a:rPr>
              <a:t>between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several</a:t>
            </a:r>
            <a:r>
              <a:rPr lang="nl-NL">
                <a:latin typeface="Arial"/>
                <a:cs typeface="Arial"/>
              </a:rPr>
              <a:t> topics, </a:t>
            </a:r>
            <a:r>
              <a:rPr lang="nl-NL" err="1">
                <a:latin typeface="Arial"/>
                <a:cs typeface="Arial"/>
              </a:rPr>
              <a:t>reflect</a:t>
            </a:r>
            <a:r>
              <a:rPr lang="nl-NL">
                <a:latin typeface="Arial"/>
                <a:cs typeface="Arial"/>
              </a:rPr>
              <a:t>. </a:t>
            </a:r>
          </a:p>
          <a:p>
            <a:pPr marL="685165" lvl="1" indent="-227965" algn="just"/>
            <a:r>
              <a:rPr lang="nl-NL" i="1" err="1">
                <a:latin typeface="Arial"/>
                <a:cs typeface="Arial"/>
              </a:rPr>
              <a:t>When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working</a:t>
            </a:r>
            <a:r>
              <a:rPr lang="nl-NL" i="1">
                <a:latin typeface="Arial"/>
                <a:cs typeface="Arial"/>
              </a:rPr>
              <a:t> in </a:t>
            </a:r>
            <a:r>
              <a:rPr lang="nl-NL" i="1" err="1">
                <a:latin typeface="Arial"/>
                <a:cs typeface="Arial"/>
              </a:rPr>
              <a:t>international</a:t>
            </a:r>
            <a:r>
              <a:rPr lang="nl-NL" i="1">
                <a:latin typeface="Arial"/>
                <a:cs typeface="Arial"/>
              </a:rPr>
              <a:t> teams, </a:t>
            </a:r>
            <a:r>
              <a:rPr lang="nl-NL" i="1" err="1">
                <a:latin typeface="Arial"/>
                <a:cs typeface="Arial"/>
              </a:rPr>
              <a:t>should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individuals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adapt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their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communication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style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to</a:t>
            </a:r>
            <a:r>
              <a:rPr lang="nl-NL" i="1">
                <a:latin typeface="Arial"/>
                <a:cs typeface="Arial"/>
              </a:rPr>
              <a:t> fit </a:t>
            </a:r>
            <a:r>
              <a:rPr lang="nl-NL" i="1" err="1">
                <a:latin typeface="Arial"/>
                <a:cs typeface="Arial"/>
              </a:rPr>
              <a:t>the</a:t>
            </a:r>
            <a:r>
              <a:rPr lang="nl-NL" i="1">
                <a:latin typeface="Arial"/>
                <a:cs typeface="Arial"/>
              </a:rPr>
              <a:t> dominant culture or </a:t>
            </a:r>
            <a:r>
              <a:rPr lang="nl-NL" i="1" err="1">
                <a:latin typeface="Arial"/>
                <a:cs typeface="Arial"/>
              </a:rPr>
              <a:t>should</a:t>
            </a:r>
            <a:r>
              <a:rPr lang="nl-NL" i="1">
                <a:latin typeface="Arial"/>
                <a:cs typeface="Arial"/>
              </a:rPr>
              <a:t> companies </a:t>
            </a:r>
            <a:r>
              <a:rPr lang="nl-NL" i="1" err="1">
                <a:latin typeface="Arial"/>
                <a:cs typeface="Arial"/>
              </a:rPr>
              <a:t>encourage</a:t>
            </a:r>
            <a:r>
              <a:rPr lang="nl-NL" i="1">
                <a:latin typeface="Arial"/>
                <a:cs typeface="Arial"/>
              </a:rPr>
              <a:t> diverse </a:t>
            </a:r>
            <a:r>
              <a:rPr lang="nl-NL" i="1" err="1">
                <a:latin typeface="Arial"/>
                <a:cs typeface="Arial"/>
              </a:rPr>
              <a:t>communication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styles</a:t>
            </a:r>
            <a:r>
              <a:rPr lang="nl-NL" i="1">
                <a:latin typeface="Arial"/>
                <a:cs typeface="Arial"/>
              </a:rPr>
              <a:t>? </a:t>
            </a:r>
            <a:r>
              <a:rPr lang="nl-NL" i="1" err="1">
                <a:latin typeface="Arial"/>
                <a:cs typeface="Arial"/>
              </a:rPr>
              <a:t>What</a:t>
            </a:r>
            <a:r>
              <a:rPr lang="nl-NL" i="1">
                <a:latin typeface="Arial"/>
                <a:cs typeface="Arial"/>
              </a:rPr>
              <a:t> are </a:t>
            </a:r>
            <a:r>
              <a:rPr lang="nl-NL" i="1" err="1">
                <a:latin typeface="Arial"/>
                <a:cs typeface="Arial"/>
              </a:rPr>
              <a:t>the</a:t>
            </a:r>
            <a:r>
              <a:rPr lang="nl-NL" i="1">
                <a:latin typeface="Arial"/>
                <a:cs typeface="Arial"/>
              </a:rPr>
              <a:t> benefits </a:t>
            </a:r>
            <a:r>
              <a:rPr lang="nl-NL" i="1" err="1">
                <a:latin typeface="Arial"/>
                <a:cs typeface="Arial"/>
              </a:rPr>
              <a:t>and</a:t>
            </a:r>
            <a:r>
              <a:rPr lang="nl-NL" i="1">
                <a:latin typeface="Arial"/>
                <a:cs typeface="Arial"/>
              </a:rPr>
              <a:t> </a:t>
            </a:r>
            <a:r>
              <a:rPr lang="nl-NL" i="1" err="1">
                <a:latin typeface="Arial"/>
                <a:cs typeface="Arial"/>
              </a:rPr>
              <a:t>challenges</a:t>
            </a:r>
            <a:r>
              <a:rPr lang="nl-NL" i="1">
                <a:latin typeface="Arial"/>
                <a:cs typeface="Arial"/>
              </a:rPr>
              <a:t> of </a:t>
            </a:r>
            <a:r>
              <a:rPr lang="nl-NL" i="1" err="1">
                <a:latin typeface="Arial"/>
                <a:cs typeface="Arial"/>
              </a:rPr>
              <a:t>each</a:t>
            </a:r>
            <a:r>
              <a:rPr lang="nl-NL" i="1">
                <a:latin typeface="Arial"/>
                <a:cs typeface="Arial"/>
              </a:rPr>
              <a:t> approach?</a:t>
            </a:r>
          </a:p>
          <a:p>
            <a:pPr marL="685165" lvl="1" indent="-227965">
              <a:buFont typeface="Courier New" panose="020B0604020202020204" pitchFamily="34" charset="0"/>
              <a:buChar char="o"/>
            </a:pPr>
            <a:endParaRPr lang="nl-NL">
              <a:latin typeface="Arial"/>
              <a:cs typeface="Arial"/>
            </a:endParaRPr>
          </a:p>
          <a:p>
            <a:pPr marL="227965" indent="-227965"/>
            <a:endParaRPr lang="nl-NL">
              <a:latin typeface="Arial"/>
              <a:cs typeface="Arial"/>
            </a:endParaRPr>
          </a:p>
          <a:p>
            <a:pPr marL="227965" indent="-227965"/>
            <a:endParaRPr lang="nl-NL">
              <a:latin typeface="Arial"/>
              <a:cs typeface="Arial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6E5486A-499F-77BB-A345-1B3C0D49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11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333559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061D-FEAD-CA27-E01A-F886B911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1AB98-95BC-8584-F632-C7DC2645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</a:t>
            </a:r>
            <a:r>
              <a:rPr lang="nl-NL" sz="3700" err="1">
                <a:latin typeface="Century Gothic"/>
              </a:rPr>
              <a:t>preparation</a:t>
            </a:r>
            <a:r>
              <a:rPr lang="nl-NL" sz="3700">
                <a:latin typeface="Century Gothic"/>
              </a:rPr>
              <a:t> </a:t>
            </a:r>
            <a:endParaRPr lang="nl-NL" sz="370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5AAE6A-C66F-FBB6-9947-737A8AB2C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079"/>
            <a:ext cx="10515600" cy="55500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 algn="just"/>
            <a:r>
              <a:rPr lang="nl-NL" sz="2800">
                <a:latin typeface="Arial"/>
                <a:cs typeface="Arial"/>
              </a:rPr>
              <a:t>Spelling, </a:t>
            </a:r>
            <a:r>
              <a:rPr lang="nl-NL" sz="2800" err="1">
                <a:latin typeface="Arial"/>
                <a:cs typeface="Arial"/>
              </a:rPr>
              <a:t>grammar</a:t>
            </a:r>
            <a:r>
              <a:rPr lang="nl-NL" sz="2800">
                <a:latin typeface="Arial"/>
                <a:cs typeface="Arial"/>
              </a:rPr>
              <a:t>, </a:t>
            </a:r>
            <a:r>
              <a:rPr lang="nl-NL" sz="2800" err="1">
                <a:latin typeface="Arial"/>
                <a:cs typeface="Arial"/>
              </a:rPr>
              <a:t>sentence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structure</a:t>
            </a:r>
            <a:r>
              <a:rPr lang="nl-NL" sz="2800">
                <a:latin typeface="Arial"/>
                <a:cs typeface="Arial"/>
              </a:rPr>
              <a:t> etc. is </a:t>
            </a:r>
            <a:r>
              <a:rPr lang="nl-NL" sz="2800" err="1">
                <a:latin typeface="Arial"/>
                <a:cs typeface="Arial"/>
              </a:rPr>
              <a:t>always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evaluated</a:t>
            </a:r>
            <a:r>
              <a:rPr lang="nl-NL" sz="2800">
                <a:latin typeface="Arial"/>
                <a:cs typeface="Arial"/>
              </a:rPr>
              <a:t>! </a:t>
            </a:r>
          </a:p>
          <a:p>
            <a:pPr marL="227965" indent="-227965" algn="just"/>
            <a:r>
              <a:rPr lang="nl-NL" sz="2800">
                <a:latin typeface="Arial"/>
                <a:cs typeface="Arial"/>
              </a:rPr>
              <a:t>Always </a:t>
            </a:r>
            <a:r>
              <a:rPr lang="nl-NL" sz="2800" err="1">
                <a:latin typeface="Arial"/>
                <a:cs typeface="Arial"/>
              </a:rPr>
              <a:t>write</a:t>
            </a:r>
            <a:r>
              <a:rPr lang="nl-NL" sz="2800">
                <a:latin typeface="Arial"/>
                <a:cs typeface="Arial"/>
              </a:rPr>
              <a:t> in full </a:t>
            </a:r>
            <a:r>
              <a:rPr lang="nl-NL" sz="2800" err="1">
                <a:latin typeface="Arial"/>
                <a:cs typeface="Arial"/>
              </a:rPr>
              <a:t>sentences</a:t>
            </a:r>
            <a:r>
              <a:rPr lang="nl-NL" sz="2800">
                <a:latin typeface="Arial"/>
                <a:cs typeface="Arial"/>
              </a:rPr>
              <a:t>. </a:t>
            </a:r>
          </a:p>
          <a:p>
            <a:pPr marL="227965" indent="-227965" algn="just"/>
            <a:r>
              <a:rPr lang="nl-NL" sz="2800" err="1">
                <a:latin typeface="Arial"/>
                <a:cs typeface="Arial"/>
              </a:rPr>
              <a:t>Phrases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and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vocabulary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needs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to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be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studied</a:t>
            </a:r>
            <a:r>
              <a:rPr lang="nl-NL" sz="2800">
                <a:latin typeface="Arial"/>
                <a:cs typeface="Arial"/>
              </a:rPr>
              <a:t> as well. </a:t>
            </a:r>
          </a:p>
          <a:p>
            <a:pPr marL="227965" indent="-227965" algn="just"/>
            <a:r>
              <a:rPr lang="nl-NL" sz="2800" err="1">
                <a:latin typeface="Arial"/>
                <a:cs typeface="Arial"/>
              </a:rPr>
              <a:t>Please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remember</a:t>
            </a:r>
            <a:r>
              <a:rPr lang="nl-NL" sz="2800">
                <a:latin typeface="Arial"/>
                <a:cs typeface="Arial"/>
              </a:rPr>
              <a:t>: </a:t>
            </a:r>
            <a:r>
              <a:rPr lang="nl-NL" sz="2800" err="1">
                <a:latin typeface="Arial"/>
                <a:cs typeface="Arial"/>
              </a:rPr>
              <a:t>this</a:t>
            </a:r>
            <a:r>
              <a:rPr lang="nl-NL" sz="2800">
                <a:latin typeface="Arial"/>
                <a:cs typeface="Arial"/>
              </a:rPr>
              <a:t> is </a:t>
            </a:r>
            <a:r>
              <a:rPr lang="nl-NL" sz="2800" b="1">
                <a:latin typeface="Arial"/>
                <a:cs typeface="Arial"/>
              </a:rPr>
              <a:t>a course </a:t>
            </a:r>
            <a:r>
              <a:rPr lang="nl-NL" sz="2800" b="1" err="1">
                <a:latin typeface="Arial"/>
                <a:cs typeface="Arial"/>
              </a:rPr>
              <a:t>taught</a:t>
            </a:r>
            <a:r>
              <a:rPr lang="nl-NL" sz="2800" b="1">
                <a:latin typeface="Arial"/>
                <a:cs typeface="Arial"/>
              </a:rPr>
              <a:t> in English</a:t>
            </a:r>
            <a:r>
              <a:rPr lang="nl-NL" sz="2800">
                <a:latin typeface="Arial"/>
                <a:cs typeface="Arial"/>
              </a:rPr>
              <a:t>, </a:t>
            </a:r>
            <a:r>
              <a:rPr lang="nl-NL" sz="2800" err="1">
                <a:latin typeface="Arial"/>
                <a:cs typeface="Arial"/>
              </a:rPr>
              <a:t>not</a:t>
            </a:r>
            <a:r>
              <a:rPr lang="nl-NL" sz="2800">
                <a:latin typeface="Arial"/>
                <a:cs typeface="Arial"/>
              </a:rPr>
              <a:t> a course on </a:t>
            </a:r>
            <a:r>
              <a:rPr lang="nl-NL" sz="2800" err="1">
                <a:latin typeface="Arial"/>
                <a:cs typeface="Arial"/>
              </a:rPr>
              <a:t>learning</a:t>
            </a:r>
            <a:r>
              <a:rPr lang="nl-NL" sz="2800">
                <a:latin typeface="Arial"/>
                <a:cs typeface="Arial"/>
              </a:rPr>
              <a:t> English as a </a:t>
            </a:r>
            <a:r>
              <a:rPr lang="nl-NL" sz="2800" err="1">
                <a:latin typeface="Arial"/>
                <a:cs typeface="Arial"/>
              </a:rPr>
              <a:t>language</a:t>
            </a:r>
            <a:r>
              <a:rPr lang="nl-NL" sz="2800">
                <a:latin typeface="Arial"/>
                <a:cs typeface="Arial"/>
              </a:rPr>
              <a:t>. </a:t>
            </a:r>
          </a:p>
          <a:p>
            <a:pPr marL="685165" lvl="1" indent="-227965" algn="just">
              <a:buFont typeface="Courier New" panose="020B0604020202020204" pitchFamily="34" charset="0"/>
              <a:buChar char="o"/>
            </a:pPr>
            <a:r>
              <a:rPr lang="nl-NL" sz="2800" err="1">
                <a:latin typeface="Arial"/>
                <a:cs typeface="Arial"/>
              </a:rPr>
              <a:t>Speaking</a:t>
            </a:r>
            <a:r>
              <a:rPr lang="nl-NL" sz="2800">
                <a:latin typeface="Arial"/>
                <a:cs typeface="Arial"/>
              </a:rPr>
              <a:t>/</a:t>
            </a:r>
            <a:r>
              <a:rPr lang="nl-NL" sz="2800" err="1">
                <a:latin typeface="Arial"/>
                <a:cs typeface="Arial"/>
              </a:rPr>
              <a:t>writing</a:t>
            </a:r>
            <a:r>
              <a:rPr lang="nl-NL" sz="2800">
                <a:latin typeface="Arial"/>
                <a:cs typeface="Arial"/>
              </a:rPr>
              <a:t> English well does NOT </a:t>
            </a:r>
            <a:r>
              <a:rPr lang="nl-NL" sz="2800" err="1">
                <a:latin typeface="Arial"/>
                <a:cs typeface="Arial"/>
              </a:rPr>
              <a:t>mean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you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will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automatically</a:t>
            </a:r>
            <a:r>
              <a:rPr lang="nl-NL" sz="2800">
                <a:latin typeface="Arial"/>
                <a:cs typeface="Arial"/>
              </a:rPr>
              <a:t> pass. </a:t>
            </a:r>
          </a:p>
          <a:p>
            <a:pPr marL="685165" lvl="1" indent="-227965" algn="just">
              <a:buFont typeface="Courier New" panose="020B0604020202020204" pitchFamily="34" charset="0"/>
              <a:buChar char="o"/>
            </a:pPr>
            <a:r>
              <a:rPr lang="nl-NL" sz="2800" err="1">
                <a:latin typeface="Arial"/>
                <a:cs typeface="Arial"/>
              </a:rPr>
              <a:t>Your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other</a:t>
            </a:r>
            <a:r>
              <a:rPr lang="nl-NL" sz="2800">
                <a:latin typeface="Arial"/>
                <a:cs typeface="Arial"/>
              </a:rPr>
              <a:t> courses are </a:t>
            </a:r>
            <a:r>
              <a:rPr lang="nl-NL" sz="2800" err="1">
                <a:latin typeface="Arial"/>
                <a:cs typeface="Arial"/>
              </a:rPr>
              <a:t>taught</a:t>
            </a:r>
            <a:r>
              <a:rPr lang="nl-NL" sz="2800">
                <a:latin typeface="Arial"/>
                <a:cs typeface="Arial"/>
              </a:rPr>
              <a:t> in Dutch, </a:t>
            </a:r>
            <a:r>
              <a:rPr lang="nl-NL" sz="2800" err="1">
                <a:latin typeface="Arial"/>
                <a:cs typeface="Arial"/>
              </a:rPr>
              <a:t>you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also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don't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automatically</a:t>
            </a:r>
            <a:r>
              <a:rPr lang="nl-NL" sz="2800">
                <a:latin typeface="Arial"/>
                <a:cs typeface="Arial"/>
              </a:rPr>
              <a:t> pass </a:t>
            </a:r>
            <a:r>
              <a:rPr lang="nl-NL" sz="2800" err="1">
                <a:latin typeface="Arial"/>
                <a:cs typeface="Arial"/>
              </a:rPr>
              <a:t>them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because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you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speak</a:t>
            </a:r>
            <a:r>
              <a:rPr lang="nl-NL" sz="2800">
                <a:latin typeface="Arial"/>
                <a:cs typeface="Arial"/>
              </a:rPr>
              <a:t> Dutch. It's </a:t>
            </a:r>
            <a:r>
              <a:rPr lang="nl-NL" sz="2800" err="1">
                <a:latin typeface="Arial"/>
                <a:cs typeface="Arial"/>
              </a:rPr>
              <a:t>the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same</a:t>
            </a:r>
            <a:r>
              <a:rPr lang="nl-NL" sz="2800">
                <a:latin typeface="Arial"/>
                <a:cs typeface="Arial"/>
              </a:rPr>
              <a:t> </a:t>
            </a:r>
            <a:r>
              <a:rPr lang="nl-NL" sz="2800" err="1">
                <a:latin typeface="Arial"/>
                <a:cs typeface="Arial"/>
              </a:rPr>
              <a:t>for</a:t>
            </a:r>
            <a:r>
              <a:rPr lang="nl-NL" sz="2800">
                <a:latin typeface="Arial"/>
                <a:cs typeface="Arial"/>
              </a:rPr>
              <a:t> Communication. </a:t>
            </a:r>
            <a:endParaRPr lang="nl-NL" sz="280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65F8F6D-52BA-2CDA-FA9A-C36CDE13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12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3735218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4FEDDC-5CD0-A1B4-991F-849190599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– important information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7F2B64-CA9E-E2E6-2BB7-2C0AD8FA7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nl-NL" dirty="0">
                <a:latin typeface="Arial"/>
                <a:cs typeface="Arial"/>
              </a:rPr>
              <a:t>Spell check, </a:t>
            </a:r>
            <a:r>
              <a:rPr lang="nl-NL" dirty="0" err="1">
                <a:latin typeface="Arial"/>
                <a:cs typeface="Arial"/>
              </a:rPr>
              <a:t>grammarly</a:t>
            </a:r>
            <a:r>
              <a:rPr lang="nl-NL" dirty="0">
                <a:latin typeface="Arial"/>
                <a:cs typeface="Arial"/>
              </a:rPr>
              <a:t>, </a:t>
            </a:r>
            <a:r>
              <a:rPr lang="nl-NL" dirty="0" err="1">
                <a:latin typeface="Arial"/>
                <a:cs typeface="Arial"/>
              </a:rPr>
              <a:t>copilot</a:t>
            </a:r>
            <a:r>
              <a:rPr lang="nl-NL" dirty="0">
                <a:latin typeface="Arial"/>
                <a:cs typeface="Arial"/>
              </a:rPr>
              <a:t>, </a:t>
            </a:r>
            <a:r>
              <a:rPr lang="nl-NL" dirty="0" err="1">
                <a:latin typeface="Arial"/>
                <a:cs typeface="Arial"/>
              </a:rPr>
              <a:t>GenAI</a:t>
            </a:r>
            <a:r>
              <a:rPr lang="nl-NL" dirty="0">
                <a:latin typeface="Arial"/>
                <a:cs typeface="Arial"/>
              </a:rPr>
              <a:t>, … = </a:t>
            </a:r>
            <a:r>
              <a:rPr lang="nl-NL" dirty="0" err="1">
                <a:latin typeface="Arial"/>
                <a:cs typeface="Arial"/>
              </a:rPr>
              <a:t>turned</a:t>
            </a:r>
            <a:r>
              <a:rPr lang="nl-NL" dirty="0">
                <a:latin typeface="Arial"/>
                <a:cs typeface="Arial"/>
              </a:rPr>
              <a:t> off.</a:t>
            </a:r>
            <a:endParaRPr lang="nl-NL" dirty="0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 dirty="0">
                <a:latin typeface="Arial"/>
                <a:cs typeface="Arial"/>
              </a:rPr>
              <a:t>Turn </a:t>
            </a:r>
            <a:r>
              <a:rPr lang="nl-NL" dirty="0" err="1">
                <a:latin typeface="Arial"/>
                <a:cs typeface="Arial"/>
              </a:rPr>
              <a:t>it</a:t>
            </a:r>
            <a:r>
              <a:rPr lang="nl-NL" dirty="0">
                <a:latin typeface="Arial"/>
                <a:cs typeface="Arial"/>
              </a:rPr>
              <a:t> off in </a:t>
            </a:r>
            <a:r>
              <a:rPr lang="nl-NL" dirty="0" err="1">
                <a:latin typeface="Arial"/>
                <a:cs typeface="Arial"/>
              </a:rPr>
              <a:t>your</a:t>
            </a:r>
            <a:r>
              <a:rPr lang="nl-NL" dirty="0">
                <a:latin typeface="Arial"/>
                <a:cs typeface="Arial"/>
              </a:rPr>
              <a:t> browser. </a:t>
            </a:r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 dirty="0" err="1">
                <a:latin typeface="Arial"/>
                <a:cs typeface="Arial"/>
              </a:rPr>
              <a:t>Still</a:t>
            </a:r>
            <a:r>
              <a:rPr lang="nl-NL" dirty="0">
                <a:latin typeface="Arial"/>
                <a:cs typeface="Arial"/>
              </a:rPr>
              <a:t> on = </a:t>
            </a:r>
            <a:r>
              <a:rPr lang="nl-NL" dirty="0" err="1">
                <a:latin typeface="Arial"/>
                <a:cs typeface="Arial"/>
              </a:rPr>
              <a:t>fraud</a:t>
            </a:r>
            <a:r>
              <a:rPr lang="nl-NL" dirty="0">
                <a:latin typeface="Arial"/>
                <a:cs typeface="Arial"/>
              </a:rPr>
              <a:t>!</a:t>
            </a:r>
          </a:p>
          <a:p>
            <a:pPr marL="227965" indent="-227965"/>
            <a:r>
              <a:rPr lang="nl-NL" dirty="0">
                <a:latin typeface="Arial"/>
                <a:cs typeface="Arial"/>
              </a:rPr>
              <a:t>NOTHING is </a:t>
            </a:r>
            <a:r>
              <a:rPr lang="nl-NL" dirty="0" err="1">
                <a:latin typeface="Arial"/>
                <a:cs typeface="Arial"/>
              </a:rPr>
              <a:t>allowed</a:t>
            </a:r>
            <a:r>
              <a:rPr lang="nl-NL" dirty="0">
                <a:latin typeface="Arial"/>
                <a:cs typeface="Arial"/>
              </a:rPr>
              <a:t> </a:t>
            </a:r>
            <a:r>
              <a:rPr lang="nl-NL" dirty="0" err="1">
                <a:latin typeface="Arial"/>
                <a:cs typeface="Arial"/>
              </a:rPr>
              <a:t>to</a:t>
            </a:r>
            <a:r>
              <a:rPr lang="nl-NL" dirty="0">
                <a:latin typeface="Arial"/>
                <a:cs typeface="Arial"/>
              </a:rPr>
              <a:t> </a:t>
            </a:r>
            <a:r>
              <a:rPr lang="nl-NL" dirty="0" err="1">
                <a:latin typeface="Arial"/>
                <a:cs typeface="Arial"/>
              </a:rPr>
              <a:t>be</a:t>
            </a:r>
            <a:r>
              <a:rPr lang="nl-NL" dirty="0">
                <a:latin typeface="Arial"/>
                <a:cs typeface="Arial"/>
              </a:rPr>
              <a:t> </a:t>
            </a:r>
            <a:r>
              <a:rPr lang="nl-NL" dirty="0" err="1">
                <a:latin typeface="Arial"/>
                <a:cs typeface="Arial"/>
              </a:rPr>
              <a:t>used</a:t>
            </a:r>
            <a:r>
              <a:rPr lang="nl-NL" dirty="0">
                <a:latin typeface="Arial"/>
                <a:cs typeface="Arial"/>
              </a:rPr>
              <a:t>. </a:t>
            </a:r>
            <a:endParaRPr lang="nl-NL" dirty="0"/>
          </a:p>
          <a:p>
            <a:pPr marL="227965" indent="-227965"/>
            <a:endParaRPr lang="nl-NL">
              <a:latin typeface="Arial"/>
              <a:cs typeface="Arial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4A2C17A-FB8E-F8C8-9481-DC93007B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13</a:t>
            </a:fld>
            <a:endParaRPr lang="nl-BE" altLang="nl-BE"/>
          </a:p>
        </p:txBody>
      </p:sp>
      <p:pic>
        <p:nvPicPr>
          <p:cNvPr id="6" name="Afbeelding 5" descr="Afbeelding met tekst, Lettertype, schermopname, wit&#10;&#10;Door AI gegenereerde inhoud is mogelijk onjuist.">
            <a:extLst>
              <a:ext uri="{FF2B5EF4-FFF2-40B4-BE49-F238E27FC236}">
                <a16:creationId xmlns:a16="http://schemas.microsoft.com/office/drawing/2014/main" id="{7F7B3817-94CC-897A-9225-AA17E31B8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040" y="3586967"/>
            <a:ext cx="10143411" cy="201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3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AA4B-C5E5-4BDB-095F-015D77BE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94B75-3176-C0A9-E72D-1D7AE0FB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700" err="1">
                <a:latin typeface="Century Gothic"/>
              </a:rPr>
              <a:t>Exam</a:t>
            </a:r>
            <a:r>
              <a:rPr lang="nl-NL" sz="3700">
                <a:latin typeface="Century Gothic"/>
              </a:rPr>
              <a:t> – important information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5D994AD-4AA7-5C1B-F19F-25509F01C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nl-NL">
                <a:latin typeface="Arial"/>
                <a:cs typeface="Arial"/>
              </a:rPr>
              <a:t>Language </a:t>
            </a:r>
            <a:r>
              <a:rPr lang="nl-NL" err="1">
                <a:latin typeface="Arial"/>
                <a:cs typeface="Arial"/>
              </a:rPr>
              <a:t>facilities</a:t>
            </a:r>
            <a:r>
              <a:rPr lang="nl-NL">
                <a:latin typeface="Arial"/>
                <a:cs typeface="Arial"/>
              </a:rPr>
              <a:t>? </a:t>
            </a:r>
            <a:endParaRPr lang="nl-NL"/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>
                <a:latin typeface="Arial"/>
                <a:cs typeface="Arial"/>
              </a:rPr>
              <a:t>Alinea </a:t>
            </a:r>
            <a:r>
              <a:rPr lang="nl-NL" err="1">
                <a:latin typeface="Arial"/>
                <a:cs typeface="Arial"/>
              </a:rPr>
              <a:t>allowed</a:t>
            </a:r>
            <a:r>
              <a:rPr lang="nl-NL">
                <a:latin typeface="Arial"/>
                <a:cs typeface="Arial"/>
              </a:rPr>
              <a:t>?</a:t>
            </a:r>
          </a:p>
          <a:p>
            <a:pPr marL="685165" lvl="1" indent="-227965">
              <a:buFont typeface="Courier New" panose="020B0604020202020204" pitchFamily="34" charset="0"/>
              <a:buChar char="o"/>
            </a:pPr>
            <a:r>
              <a:rPr lang="nl-NL">
                <a:latin typeface="Arial"/>
                <a:cs typeface="Arial"/>
              </a:rPr>
              <a:t>ONLY </a:t>
            </a:r>
            <a:r>
              <a:rPr lang="nl-NL" err="1">
                <a:latin typeface="Arial"/>
                <a:cs typeface="Arial"/>
              </a:rPr>
              <a:t>if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you</a:t>
            </a:r>
            <a:r>
              <a:rPr lang="nl-NL">
                <a:latin typeface="Arial"/>
                <a:cs typeface="Arial"/>
              </a:rPr>
              <a:t> have </a:t>
            </a:r>
            <a:r>
              <a:rPr lang="nl-NL" err="1">
                <a:latin typeface="Arial"/>
                <a:cs typeface="Arial"/>
              </a:rPr>
              <a:t>an</a:t>
            </a:r>
            <a:r>
              <a:rPr lang="nl-NL">
                <a:latin typeface="Arial"/>
                <a:cs typeface="Arial"/>
              </a:rPr>
              <a:t> official </a:t>
            </a:r>
            <a:r>
              <a:rPr lang="nl-NL" err="1">
                <a:latin typeface="Arial"/>
                <a:cs typeface="Arial"/>
              </a:rPr>
              <a:t>certificate</a:t>
            </a:r>
            <a:r>
              <a:rPr lang="nl-NL">
                <a:latin typeface="Arial"/>
                <a:cs typeface="Arial"/>
              </a:rPr>
              <a:t> of AP!!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D0A189A-C96B-E2AE-AA3E-28F6836F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75DD2-EDD6-4384-9075-195C7A18A2DE}" type="slidenum">
              <a:rPr lang="nl-BE" altLang="nl-BE" smtClean="0"/>
              <a:pPr>
                <a:defRPr/>
              </a:pPr>
              <a:t>14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1032037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79535-3779-F88C-3A9D-C8821232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765" y="126998"/>
            <a:ext cx="10515600" cy="600735"/>
          </a:xfrm>
        </p:spPr>
        <p:txBody>
          <a:bodyPr anchor="t">
            <a:normAutofit/>
          </a:bodyPr>
          <a:lstStyle/>
          <a:p>
            <a:r>
              <a:rPr lang="nl-NL" sz="3500"/>
              <a:t>Communication?</a:t>
            </a:r>
          </a:p>
        </p:txBody>
      </p:sp>
      <p:pic>
        <p:nvPicPr>
          <p:cNvPr id="6" name="Afbeelding 5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7D5DA066-1C80-DBCE-5E42-4FB1F42E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319" y="940114"/>
            <a:ext cx="8221368" cy="5779678"/>
          </a:xfrm>
          <a:prstGeom prst="rect">
            <a:avLst/>
          </a:prstGeom>
          <a:noFill/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9A119BE-C76B-4ABC-24B4-0C8B4AF1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197" y="6356351"/>
            <a:ext cx="108560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2375DD2-EDD6-4384-9075-195C7A18A2DE}" type="slidenum">
              <a:rPr lang="nl-BE" altLang="nl-BE" smtClean="0"/>
              <a:pPr>
                <a:spcAft>
                  <a:spcPts val="600"/>
                </a:spcAft>
                <a:defRPr/>
              </a:pPr>
              <a:t>15</a:t>
            </a:fld>
            <a:endParaRPr lang="nl-BE" altLang="nl-BE"/>
          </a:p>
        </p:txBody>
      </p:sp>
    </p:spTree>
    <p:extLst>
      <p:ext uri="{BB962C8B-B14F-4D97-AF65-F5344CB8AC3E}">
        <p14:creationId xmlns:p14="http://schemas.microsoft.com/office/powerpoint/2010/main" val="4036703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317E0D-307C-A741-B779-C16B00DA7191}"/>
              </a:ext>
            </a:extLst>
          </p:cNvPr>
          <p:cNvSpPr txBox="1"/>
          <p:nvPr/>
        </p:nvSpPr>
        <p:spPr>
          <a:xfrm>
            <a:off x="2495600" y="2204864"/>
            <a:ext cx="817133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BE" sz="11500">
                <a:latin typeface="Century Gothic" panose="020B0502020202020204" pitchFamily="34" charset="0"/>
                <a:ea typeface="Ayuthaya" pitchFamily="2" charset="-34"/>
                <a:cs typeface="Ayuthaya" pitchFamily="2" charset="-34"/>
              </a:rPr>
              <a:t>Questions</a:t>
            </a:r>
            <a:r>
              <a:rPr lang="en-BE" sz="11500">
                <a:latin typeface="Algerian" pitchFamily="82" charset="77"/>
                <a:ea typeface="Ayuthaya" pitchFamily="2" charset="-34"/>
                <a:cs typeface="Ayuthaya" pitchFamily="2" charset="-34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5657087"/>
      </p:ext>
    </p:extLst>
  </p:cSld>
  <p:clrMapOvr>
    <a:masterClrMapping/>
  </p:clrMapOvr>
</p:sld>
</file>

<file path=ppt/theme/theme1.xml><?xml version="1.0" encoding="utf-8"?>
<a:theme xmlns:a="http://schemas.openxmlformats.org/drawingml/2006/main" name="1_Kantoorthema">
  <a:themeElements>
    <a:clrScheme name="Themakleuren AP">
      <a:dk1>
        <a:srgbClr val="404040"/>
      </a:dk1>
      <a:lt1>
        <a:srgbClr val="FFFFFF"/>
      </a:lt1>
      <a:dk2>
        <a:srgbClr val="404040"/>
      </a:dk2>
      <a:lt2>
        <a:srgbClr val="E7E6E6"/>
      </a:lt2>
      <a:accent1>
        <a:srgbClr val="AD0F0A"/>
      </a:accent1>
      <a:accent2>
        <a:srgbClr val="F59A00"/>
      </a:accent2>
      <a:accent3>
        <a:srgbClr val="AD1073"/>
      </a:accent3>
      <a:accent4>
        <a:srgbClr val="009EAD"/>
      </a:accent4>
      <a:accent5>
        <a:srgbClr val="1D9659"/>
      </a:accent5>
      <a:accent6>
        <a:srgbClr val="70AD47"/>
      </a:accent6>
      <a:hlink>
        <a:srgbClr val="AD0F0A"/>
      </a:hlink>
      <a:folHlink>
        <a:srgbClr val="404040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D0F0A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75000"/>
              <a:lumOff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sjabloon_AP_19-9_NL.pptx" id="{3BD77326-128E-424F-ABB3-A7B63DAE3F53}" vid="{476C2211-F20B-4BF4-8DBF-66E6F50A05DE}"/>
    </a:ext>
  </a:ext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946559C38F0D4BA9C03F872A2B5193" ma:contentTypeVersion="3" ma:contentTypeDescription="Een nieuw document maken." ma:contentTypeScope="" ma:versionID="5951ee2b8b8f04edea38e1195cf55c81">
  <xsd:schema xmlns:xsd="http://www.w3.org/2001/XMLSchema" xmlns:xs="http://www.w3.org/2001/XMLSchema" xmlns:p="http://schemas.microsoft.com/office/2006/metadata/properties" xmlns:ns3="ae99ee94-6c7b-4e8f-a365-9f3658a5acb1" targetNamespace="http://schemas.microsoft.com/office/2006/metadata/properties" ma:root="true" ma:fieldsID="aa7533c9f10c8584e83e66a95ce7196a" ns3:_="">
    <xsd:import namespace="ae99ee94-6c7b-4e8f-a365-9f3658a5acb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9ee94-6c7b-4e8f-a365-9f3658a5ac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6BE365-799E-40FB-AA50-F9BE7F9D0A5B}">
  <ds:schemaRefs>
    <ds:schemaRef ds:uri="ae99ee94-6c7b-4e8f-a365-9f3658a5acb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3047307-E40C-44D4-A6C4-48450256CB4D}">
  <ds:schemaRefs>
    <ds:schemaRef ds:uri="ae99ee94-6c7b-4e8f-a365-9f3658a5ac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1C23F65-0964-4F0E-9391-B9D0F0330A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1_Kantoorthema</vt:lpstr>
      <vt:lpstr>PowerPoint Presentation</vt:lpstr>
      <vt:lpstr>PowerPoint Presentation</vt:lpstr>
      <vt:lpstr>PowerPoint Presentation</vt:lpstr>
      <vt:lpstr>PowerPoint Presentation</vt:lpstr>
      <vt:lpstr>Study material</vt:lpstr>
      <vt:lpstr>Exam preparation</vt:lpstr>
      <vt:lpstr>Exam preparation - knowledge</vt:lpstr>
      <vt:lpstr>Exam preparation - knowledge</vt:lpstr>
      <vt:lpstr>Exam preparation - knowledge</vt:lpstr>
      <vt:lpstr>Exam preparation - application</vt:lpstr>
      <vt:lpstr>Exam preparation - insight</vt:lpstr>
      <vt:lpstr>Exam preparation </vt:lpstr>
      <vt:lpstr>Exam – important information</vt:lpstr>
      <vt:lpstr>Exam – important information</vt:lpstr>
      <vt:lpstr>Communication?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Koen Van Eyken;Binnemans Charlotte</dc:creator>
  <cp:revision>29</cp:revision>
  <cp:lastPrinted>2016-11-10T12:44:11Z</cp:lastPrinted>
  <dcterms:created xsi:type="dcterms:W3CDTF">2013-03-08T10:37:44Z</dcterms:created>
  <dcterms:modified xsi:type="dcterms:W3CDTF">2026-04-28T12:01:43Z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0x010100C6946559C38F0D4BA9C03F872A2B5193</vt:lpwstr>
  </property>
</Properties>
</file>