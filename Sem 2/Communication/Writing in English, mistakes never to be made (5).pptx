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0" r:id="rId1"/>
  </p:sldMasterIdLst>
  <p:notesMasterIdLst>
    <p:notesMasterId r:id="rId20"/>
  </p:notesMasterIdLst>
  <p:sldIdLst>
    <p:sldId id="258" r:id="rId2"/>
    <p:sldId id="259" r:id="rId3"/>
    <p:sldId id="480" r:id="rId4"/>
    <p:sldId id="477" r:id="rId5"/>
    <p:sldId id="269" r:id="rId6"/>
    <p:sldId id="262" r:id="rId7"/>
    <p:sldId id="263" r:id="rId8"/>
    <p:sldId id="270" r:id="rId9"/>
    <p:sldId id="280" r:id="rId10"/>
    <p:sldId id="281" r:id="rId11"/>
    <p:sldId id="273" r:id="rId12"/>
    <p:sldId id="274" r:id="rId13"/>
    <p:sldId id="272" r:id="rId14"/>
    <p:sldId id="282" r:id="rId15"/>
    <p:sldId id="283" r:id="rId16"/>
    <p:sldId id="479" r:id="rId17"/>
    <p:sldId id="275" r:id="rId18"/>
    <p:sldId id="476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9759"/>
    <a:srgbClr val="009EAE"/>
    <a:srgbClr val="AE1073"/>
    <a:srgbClr val="F69B00"/>
    <a:srgbClr val="404040"/>
    <a:srgbClr val="AD0F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64E616-2AAA-8890-1599-E514C97A1C32}" v="4" dt="2025-04-25T07:04:20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07" autoAdjust="0"/>
    <p:restoredTop sz="94694"/>
  </p:normalViewPr>
  <p:slideViewPr>
    <p:cSldViewPr snapToGrid="0" snapToObjects="1">
      <p:cViewPr varScale="1">
        <p:scale>
          <a:sx n="110" d="100"/>
          <a:sy n="110" d="100"/>
        </p:scale>
        <p:origin x="71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nemans Charlotte" userId="dbc0cbc5-11ea-44c4-b1a6-e5f994eb00ad" providerId="ADAL" clId="{2FF33A0D-58C8-48C8-9C66-7597FEB54532}"/>
    <pc:docChg chg="custSel modSld">
      <pc:chgData name="Binnemans Charlotte" userId="dbc0cbc5-11ea-44c4-b1a6-e5f994eb00ad" providerId="ADAL" clId="{2FF33A0D-58C8-48C8-9C66-7597FEB54532}" dt="2025-04-22T12:59:27.872" v="6" actId="113"/>
      <pc:docMkLst>
        <pc:docMk/>
      </pc:docMkLst>
      <pc:sldChg chg="modSp mod">
        <pc:chgData name="Binnemans Charlotte" userId="dbc0cbc5-11ea-44c4-b1a6-e5f994eb00ad" providerId="ADAL" clId="{2FF33A0D-58C8-48C8-9C66-7597FEB54532}" dt="2025-04-22T12:59:27.872" v="6" actId="113"/>
        <pc:sldMkLst>
          <pc:docMk/>
          <pc:sldMk cId="637975762" sldId="283"/>
        </pc:sldMkLst>
        <pc:spChg chg="mod">
          <ac:chgData name="Binnemans Charlotte" userId="dbc0cbc5-11ea-44c4-b1a6-e5f994eb00ad" providerId="ADAL" clId="{2FF33A0D-58C8-48C8-9C66-7597FEB54532}" dt="2025-04-22T12:59:27.872" v="6" actId="113"/>
          <ac:spMkLst>
            <pc:docMk/>
            <pc:sldMk cId="637975762" sldId="283"/>
            <ac:spMk id="8" creationId="{55A651B0-06FE-D24E-9822-8B3EDB98650A}"/>
          </ac:spMkLst>
        </pc:spChg>
      </pc:sldChg>
    </pc:docChg>
  </pc:docChgLst>
  <pc:docChgLst>
    <pc:chgData name="Van Eyken Koen" userId="S::p097402@ap.be::435f31d3-9fa3-41eb-a6e7-7dcb3a5dcb26" providerId="AD" clId="Web-{DF64E616-2AAA-8890-1599-E514C97A1C32}"/>
    <pc:docChg chg="modSld">
      <pc:chgData name="Van Eyken Koen" userId="S::p097402@ap.be::435f31d3-9fa3-41eb-a6e7-7dcb3a5dcb26" providerId="AD" clId="Web-{DF64E616-2AAA-8890-1599-E514C97A1C32}" dt="2025-04-25T07:04:20.149" v="3" actId="20577"/>
      <pc:docMkLst>
        <pc:docMk/>
      </pc:docMkLst>
      <pc:sldChg chg="modSp">
        <pc:chgData name="Van Eyken Koen" userId="S::p097402@ap.be::435f31d3-9fa3-41eb-a6e7-7dcb3a5dcb26" providerId="AD" clId="Web-{DF64E616-2AAA-8890-1599-E514C97A1C32}" dt="2025-04-25T07:04:20.149" v="3" actId="20577"/>
        <pc:sldMkLst>
          <pc:docMk/>
          <pc:sldMk cId="637975762" sldId="283"/>
        </pc:sldMkLst>
        <pc:spChg chg="mod">
          <ac:chgData name="Van Eyken Koen" userId="S::p097402@ap.be::435f31d3-9fa3-41eb-a6e7-7dcb3a5dcb26" providerId="AD" clId="Web-{DF64E616-2AAA-8890-1599-E514C97A1C32}" dt="2025-04-25T07:04:20.149" v="3" actId="20577"/>
          <ac:spMkLst>
            <pc:docMk/>
            <pc:sldMk cId="637975762" sldId="283"/>
            <ac:spMk id="8" creationId="{55A651B0-06FE-D24E-9822-8B3EDB9865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AF93D-7AA4-244E-8847-3CF83E614FD0}" type="datetimeFigureOut">
              <a:rPr lang="nl-BE" smtClean="0"/>
              <a:t>25/04/2025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4D53E-F23C-2C46-909A-8DE9A99B2E5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57533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7DFBAEB1-7534-314E-A9EF-59F46B2F58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1825" b="11825"/>
          <a:stretch/>
        </p:blipFill>
        <p:spPr>
          <a:xfrm>
            <a:off x="-1" y="1"/>
            <a:ext cx="9144002" cy="51434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504" y="837211"/>
            <a:ext cx="5572496" cy="1280758"/>
          </a:xfrm>
        </p:spPr>
        <p:txBody>
          <a:bodyPr anchor="b" anchorCtr="0"/>
          <a:lstStyle>
            <a:lvl1pPr algn="l"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504" y="2272349"/>
            <a:ext cx="5572496" cy="68739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 om de ondertitelstijl van het model te bewerken</a:t>
            </a:r>
            <a:endParaRPr lang="en-US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4E20D0F-AC40-FD43-8BCE-462FDF3ABD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814" y="2356261"/>
            <a:ext cx="3111335" cy="2787238"/>
          </a:xfrm>
          <a:prstGeom prst="rect">
            <a:avLst/>
          </a:prstGeom>
        </p:spPr>
      </p:pic>
      <p:pic>
        <p:nvPicPr>
          <p:cNvPr id="13" name="Afbeelding 12" descr="Afbeelding met tekening&#10;&#10;Automatisch gegenereerde beschrijving">
            <a:extLst>
              <a:ext uri="{FF2B5EF4-FFF2-40B4-BE49-F238E27FC236}">
                <a16:creationId xmlns:a16="http://schemas.microsoft.com/office/drawing/2014/main" id="{D8123E29-3FEF-F448-9714-34CF79BE82C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27248" y="4489919"/>
            <a:ext cx="596589" cy="27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6500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928F1-0076-4340-BE68-1AED3FC6F9FC}" type="datetime1">
              <a:rPr lang="nl-BE" smtClean="0"/>
              <a:t>25/04/2025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 dirty="0"/>
              <a:t>Communication - Writing in English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32466686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>
            <a:extLst>
              <a:ext uri="{FF2B5EF4-FFF2-40B4-BE49-F238E27FC236}">
                <a16:creationId xmlns:a16="http://schemas.microsoft.com/office/drawing/2014/main" id="{BC2470E5-3757-7D42-9FC4-F6ECDE9AE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1825" b="11825"/>
          <a:stretch/>
        </p:blipFill>
        <p:spPr>
          <a:xfrm>
            <a:off x="-1" y="1"/>
            <a:ext cx="9144002" cy="5143499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01D7CB96-9E3F-084B-9130-4BB4FEB95F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356262"/>
            <a:ext cx="3111335" cy="2787238"/>
          </a:xfrm>
          <a:prstGeom prst="rect">
            <a:avLst/>
          </a:prstGeom>
        </p:spPr>
      </p:pic>
      <p:pic>
        <p:nvPicPr>
          <p:cNvPr id="12" name="Afbeelding 11" descr="Afbeelding met tekening&#10;&#10;Automatisch gegenereerde beschrijving">
            <a:extLst>
              <a:ext uri="{FF2B5EF4-FFF2-40B4-BE49-F238E27FC236}">
                <a16:creationId xmlns:a16="http://schemas.microsoft.com/office/drawing/2014/main" id="{0E25DA74-6D2C-8E40-96B9-E43883B2DF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27248" y="4489919"/>
            <a:ext cx="596589" cy="2738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6629" y="653143"/>
            <a:ext cx="5577326" cy="1465466"/>
          </a:xfrm>
        </p:spPr>
        <p:txBody>
          <a:bodyPr anchor="b"/>
          <a:lstStyle>
            <a:lvl1pPr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6628" y="2274676"/>
            <a:ext cx="5577326" cy="73635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93955" y="4767263"/>
            <a:ext cx="814202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8D24A2-3BA0-CE47-9626-802FA61C0AE5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77882654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939998"/>
            <a:ext cx="3886200" cy="3263504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939998"/>
            <a:ext cx="3886200" cy="3263504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CC72B-8EDA-AA4C-8AC1-32906747DF83}" type="datetime1">
              <a:rPr lang="nl-BE" smtClean="0"/>
              <a:t>25/04/2025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40274692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07892"/>
            <a:ext cx="7886700" cy="450551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42050"/>
            <a:ext cx="3868340" cy="617934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>
                <a:solidFill>
                  <a:srgbClr val="AD0F0A"/>
                </a:solidFill>
                <a:latin typeface="Century Gothic" panose="020B0502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795947"/>
            <a:ext cx="3868340" cy="2609033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942050"/>
            <a:ext cx="3887391" cy="617934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>
                <a:solidFill>
                  <a:srgbClr val="AD0F0A"/>
                </a:solidFill>
                <a:latin typeface="Century Gothic" panose="020B05020202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795947"/>
            <a:ext cx="3887391" cy="2609033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C0E4C-D4EE-5342-8043-CB553A79C6F9}" type="datetime1">
              <a:rPr lang="nl-BE" smtClean="0"/>
              <a:t>25/04/2025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2386479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9D586-114A-B749-8320-F972FC7433EF}" type="datetime1">
              <a:rPr lang="nl-BE" smtClean="0"/>
              <a:t>25/04/2025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8137499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B369-DF3D-5943-8EF7-559AB855FF21}" type="datetime1">
              <a:rPr lang="nl-BE" smtClean="0"/>
              <a:t>25/04/2025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41633118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07892"/>
            <a:ext cx="2949178" cy="769636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07893"/>
            <a:ext cx="4629150" cy="398789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229918"/>
            <a:ext cx="2949178" cy="317182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AE3C-AC47-4A42-A90F-7574D2B5A3F0}" type="datetime1">
              <a:rPr lang="nl-BE" smtClean="0"/>
              <a:t>25/04/2025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188827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07892"/>
            <a:ext cx="2949178" cy="702451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07893"/>
            <a:ext cx="4629150" cy="3987896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235034"/>
            <a:ext cx="2949178" cy="316670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BD4B-993E-3647-BCB5-747E410A6168}" type="datetime1">
              <a:rPr lang="nl-BE" smtClean="0"/>
              <a:t>25/04/2025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686379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07892"/>
            <a:ext cx="7886700" cy="4505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nl-NL" dirty="0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3999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28800" y="4767263"/>
            <a:ext cx="7243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31908-F790-B44F-A0B7-3AF51BA4B204}" type="datetime1">
              <a:rPr lang="nl-BE" smtClean="0"/>
              <a:t>25/04/2025</a:t>
            </a:fld>
            <a:endParaRPr lang="nl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53195" y="4767263"/>
            <a:ext cx="514795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nl-BE" dirty="0"/>
              <a:t>Communication - Writing in English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1148" y="4767263"/>
            <a:ext cx="8142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D24A2-3BA0-CE47-9626-802FA61C0AE5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4A79F64-0EFC-174C-89B9-98BEB632C7F8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3803130"/>
            <a:ext cx="1498060" cy="134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36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AD0F0A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AD0F0A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AD0F0A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AD0F0A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AD0F0A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AD0F0A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0DBF0F-6BE8-144A-8B1D-FEA389BED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8325" y="1063654"/>
            <a:ext cx="5572496" cy="525947"/>
          </a:xfrm>
        </p:spPr>
        <p:txBody>
          <a:bodyPr/>
          <a:lstStyle/>
          <a:p>
            <a:r>
              <a:rPr lang="nl-BE" sz="3600" dirty="0">
                <a:latin typeface="Century Gothic"/>
              </a:rPr>
              <a:t>Communication</a:t>
            </a:r>
            <a:endParaRPr lang="nl-BE" sz="2800" b="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8B93E65-F2A0-4746-8795-CBCD758AB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8325" y="2078255"/>
            <a:ext cx="5572496" cy="6873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l-BE" sz="4800" dirty="0" err="1">
                <a:latin typeface="Century Gothic"/>
                <a:cs typeface="Arial"/>
              </a:rPr>
              <a:t>Writing</a:t>
            </a:r>
            <a:r>
              <a:rPr lang="nl-BE" sz="4800" dirty="0">
                <a:latin typeface="Century Gothic"/>
                <a:cs typeface="Arial"/>
              </a:rPr>
              <a:t> in English</a:t>
            </a:r>
          </a:p>
          <a:p>
            <a:r>
              <a:rPr lang="nl-BE" dirty="0">
                <a:latin typeface="Century Gothic"/>
                <a:cs typeface="Arial"/>
              </a:rPr>
              <a:t>Mistakes never </a:t>
            </a:r>
            <a:r>
              <a:rPr lang="nl-BE" dirty="0" err="1">
                <a:latin typeface="Century Gothic"/>
                <a:cs typeface="Arial"/>
              </a:rPr>
              <a:t>to</a:t>
            </a:r>
            <a:r>
              <a:rPr lang="nl-BE" dirty="0">
                <a:latin typeface="Century Gothic"/>
                <a:cs typeface="Arial"/>
              </a:rPr>
              <a:t> </a:t>
            </a:r>
            <a:r>
              <a:rPr lang="nl-BE" dirty="0" err="1">
                <a:latin typeface="Century Gothic"/>
                <a:cs typeface="Arial"/>
              </a:rPr>
              <a:t>be</a:t>
            </a:r>
            <a:r>
              <a:rPr lang="nl-BE" dirty="0">
                <a:latin typeface="Century Gothic"/>
                <a:cs typeface="Arial"/>
              </a:rPr>
              <a:t> made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63E0E4E0-B40A-4CB3-BFD0-453E5C2F8E33}"/>
              </a:ext>
            </a:extLst>
          </p:cNvPr>
          <p:cNvSpPr txBox="1"/>
          <p:nvPr/>
        </p:nvSpPr>
        <p:spPr>
          <a:xfrm>
            <a:off x="4850202" y="3680244"/>
            <a:ext cx="435441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000" dirty="0">
                <a:solidFill>
                  <a:schemeClr val="bg1"/>
                </a:solidFill>
                <a:latin typeface="Arial"/>
                <a:cs typeface="Arial"/>
              </a:rPr>
              <a:t>     Charlotte </a:t>
            </a:r>
            <a:r>
              <a:rPr lang="nl-NL" sz="2000" dirty="0" err="1">
                <a:solidFill>
                  <a:schemeClr val="bg1"/>
                </a:solidFill>
                <a:latin typeface="Arial"/>
                <a:cs typeface="Arial"/>
              </a:rPr>
              <a:t>Binnemans</a:t>
            </a:r>
            <a:endParaRPr lang="nl-NL" dirty="0" err="1">
              <a:solidFill>
                <a:schemeClr val="bg1"/>
              </a:solidFill>
            </a:endParaRPr>
          </a:p>
          <a:p>
            <a:r>
              <a:rPr lang="nl-NL" sz="2000" dirty="0">
                <a:solidFill>
                  <a:schemeClr val="bg1"/>
                </a:solidFill>
                <a:latin typeface="Arial"/>
                <a:cs typeface="Arial"/>
              </a:rPr>
              <a:t>Koen Van </a:t>
            </a:r>
            <a:r>
              <a:rPr lang="nl-NL" sz="2000" dirty="0" err="1">
                <a:solidFill>
                  <a:schemeClr val="bg1"/>
                </a:solidFill>
                <a:latin typeface="Arial"/>
                <a:cs typeface="Arial"/>
              </a:rPr>
              <a:t>Eyken</a:t>
            </a:r>
            <a:endParaRPr lang="nl-NL" sz="200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1610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>
            <a:extLst>
              <a:ext uri="{FF2B5EF4-FFF2-40B4-BE49-F238E27FC236}">
                <a16:creationId xmlns:a16="http://schemas.microsoft.com/office/drawing/2014/main" id="{064710F1-CB3B-4488-A3B9-7F04FE82F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7892"/>
            <a:ext cx="7886700" cy="450551"/>
          </a:xfrm>
        </p:spPr>
        <p:txBody>
          <a:bodyPr/>
          <a:lstStyle/>
          <a:p>
            <a:r>
              <a:rPr lang="en-US" dirty="0"/>
              <a:t>Mistakes never to be made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70951E5-EBBB-7548-B97E-BFACC4FD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3195" y="4767263"/>
            <a:ext cx="5147953" cy="273844"/>
          </a:xfrm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nl-BE"/>
              <a:t>Communication - Writing in English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76DC167-9FA6-7C46-A3CE-38A1215F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1148" y="4767263"/>
            <a:ext cx="814202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68D24A2-3BA0-CE47-9626-802FA61C0AE5}" type="slidenum">
              <a:rPr lang="nl-BE" smtClean="0"/>
              <a:pPr>
                <a:spcAft>
                  <a:spcPts val="600"/>
                </a:spcAft>
              </a:pPr>
              <a:t>2</a:t>
            </a:fld>
            <a:endParaRPr lang="nl-BE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FE83FF0C-6FBD-80BE-B0FF-1A8C9978B5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3686" y="861444"/>
            <a:ext cx="4828013" cy="3263504"/>
          </a:xfrm>
        </p:spPr>
        <p:txBody>
          <a:bodyPr/>
          <a:lstStyle/>
          <a:p>
            <a:r>
              <a:rPr lang="nl-BE" dirty="0" err="1"/>
              <a:t>Journalism</a:t>
            </a:r>
            <a:r>
              <a:rPr lang="nl-BE" dirty="0"/>
              <a:t> </a:t>
            </a:r>
            <a:r>
              <a:rPr lang="nl-BE" dirty="0" err="1"/>
              <a:t>department</a:t>
            </a:r>
            <a:r>
              <a:rPr lang="nl-BE" dirty="0"/>
              <a:t>: -2 per </a:t>
            </a:r>
            <a:r>
              <a:rPr lang="nl-BE" dirty="0" err="1"/>
              <a:t>mistake</a:t>
            </a:r>
            <a:r>
              <a:rPr lang="nl-BE" dirty="0"/>
              <a:t> on </a:t>
            </a:r>
            <a:r>
              <a:rPr lang="nl-BE" dirty="0" err="1"/>
              <a:t>total</a:t>
            </a:r>
            <a:r>
              <a:rPr lang="nl-BE" dirty="0"/>
              <a:t>!</a:t>
            </a:r>
          </a:p>
          <a:p>
            <a:endParaRPr lang="nl-BE" dirty="0"/>
          </a:p>
          <a:p>
            <a:r>
              <a:rPr lang="nl-BE" dirty="0"/>
              <a:t>IT </a:t>
            </a:r>
            <a:r>
              <a:rPr lang="nl-BE" dirty="0" err="1"/>
              <a:t>department</a:t>
            </a:r>
            <a:r>
              <a:rPr lang="nl-BE" dirty="0"/>
              <a:t>: </a:t>
            </a:r>
          </a:p>
          <a:p>
            <a:pPr lvl="1"/>
            <a:r>
              <a:rPr lang="nl-BE" dirty="0" err="1"/>
              <a:t>Lose</a:t>
            </a:r>
            <a:r>
              <a:rPr lang="nl-BE" dirty="0"/>
              <a:t> points</a:t>
            </a:r>
          </a:p>
          <a:p>
            <a:pPr lvl="1"/>
            <a:r>
              <a:rPr lang="nl-BE" dirty="0" err="1"/>
              <a:t>Disappointed</a:t>
            </a:r>
            <a:r>
              <a:rPr lang="nl-BE" dirty="0"/>
              <a:t> </a:t>
            </a:r>
            <a:r>
              <a:rPr lang="nl-BE" dirty="0" err="1"/>
              <a:t>lecturers</a:t>
            </a:r>
            <a:r>
              <a:rPr lang="nl-BE" dirty="0"/>
              <a:t> </a:t>
            </a:r>
          </a:p>
        </p:txBody>
      </p:sp>
      <p:pic>
        <p:nvPicPr>
          <p:cNvPr id="8" name="Picture 2" descr="No Ragrets? – Agitator | DonorVoice">
            <a:extLst>
              <a:ext uri="{FF2B5EF4-FFF2-40B4-BE49-F238E27FC236}">
                <a16:creationId xmlns:a16="http://schemas.microsoft.com/office/drawing/2014/main" id="{D67A3315-D69B-B2AC-4850-2696A123F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957" y="1174595"/>
            <a:ext cx="2685585" cy="268558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Afbeelding 1" descr="Afbeelding met Menselijk gezicht, persoon, kleding, muur&#10;&#10;Automatisch gegenereerde beschrijving">
            <a:extLst>
              <a:ext uri="{FF2B5EF4-FFF2-40B4-BE49-F238E27FC236}">
                <a16:creationId xmlns:a16="http://schemas.microsoft.com/office/drawing/2014/main" id="{011C4837-1485-6614-96EE-471CF4F28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127" y="3087435"/>
            <a:ext cx="1904375" cy="14276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63148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54E29-23D4-B739-F05F-BB1AE015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19CD866-599B-7A6F-5DDC-EBB041534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Exercise</a:t>
            </a:r>
            <a:endParaRPr lang="nl-NL" dirty="0" err="1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5FF8F216-7FB6-9956-F05C-DE8D2D13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843" y="1164438"/>
            <a:ext cx="7886700" cy="297855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 fontAlgn="base">
              <a:buNone/>
            </a:pPr>
            <a:r>
              <a:rPr lang="en-GB" sz="32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Write down what the difference is between these words. </a:t>
            </a:r>
            <a:r>
              <a:rPr lang="en-GB" sz="320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Explain when you use them. </a:t>
            </a:r>
            <a:endParaRPr lang="en-GB" sz="3200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857250" lvl="1" indent="-514350"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To vs. too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​</a:t>
            </a:r>
            <a:endParaRPr lang="en-US" sz="320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857250" lvl="1" indent="-514350" fontAlgn="base">
              <a:buFont typeface="+mj-lt"/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Then vs. than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3200" dirty="0">
              <a:solidFill>
                <a:srgbClr val="000000"/>
              </a:solidFill>
            </a:endParaRPr>
          </a:p>
          <a:p>
            <a:pPr marL="857250" lvl="1" indent="-514350" fontAlgn="base">
              <a:buFont typeface="+mj-lt"/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Your – you’re / where – we’re – were / 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3200" dirty="0">
              <a:solidFill>
                <a:srgbClr val="000000"/>
              </a:solidFill>
            </a:endParaRPr>
          </a:p>
          <a:p>
            <a:pPr marL="857250" lvl="1" indent="-514350" fontAlgn="base">
              <a:buFont typeface="+mj-lt"/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their – they’re – there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3200" dirty="0">
              <a:solidFill>
                <a:srgbClr val="000000"/>
              </a:solidFill>
            </a:endParaRPr>
          </a:p>
          <a:p>
            <a:pPr marL="857250" lvl="1" indent="-514350" fontAlgn="base">
              <a:buFont typeface="+mj-lt"/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Subject-verb agreement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3200" dirty="0">
              <a:solidFill>
                <a:srgbClr val="000000"/>
              </a:solidFill>
            </a:endParaRPr>
          </a:p>
          <a:p>
            <a:pPr marL="857250" lvl="1" indent="-514350" fontAlgn="base">
              <a:buFont typeface="+mj-lt"/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Adjective vs. Adverb</a:t>
            </a:r>
            <a:endParaRPr lang="en-US" sz="3200" dirty="0">
              <a:solidFill>
                <a:srgbClr val="000000"/>
              </a:solidFill>
            </a:endParaRPr>
          </a:p>
          <a:p>
            <a:pPr marL="857250" lvl="1" indent="-514350"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It's – its</a:t>
            </a:r>
            <a:endParaRPr lang="en-GB" sz="3200" dirty="0">
              <a:solidFill>
                <a:srgbClr val="000000"/>
              </a:solidFill>
              <a:latin typeface="Calibri"/>
              <a:ea typeface="Calibri"/>
            </a:endParaRPr>
          </a:p>
          <a:p>
            <a:endParaRPr lang="nl-BE" sz="3200" dirty="0">
              <a:solidFill>
                <a:srgbClr val="707070"/>
              </a:solidFill>
              <a:ea typeface="Calibri"/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6C4C03D-C015-EF6D-689A-F43E0A4C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A94B211-3629-6AB4-CFEA-E2DFFA6C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11639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>
            <a:extLst>
              <a:ext uri="{FF2B5EF4-FFF2-40B4-BE49-F238E27FC236}">
                <a16:creationId xmlns:a16="http://schemas.microsoft.com/office/drawing/2014/main" id="{064710F1-CB3B-4488-A3B9-7F04FE82F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7892"/>
            <a:ext cx="7886700" cy="450551"/>
          </a:xfrm>
        </p:spPr>
        <p:txBody>
          <a:bodyPr/>
          <a:lstStyle/>
          <a:p>
            <a:r>
              <a:rPr lang="en-US" dirty="0"/>
              <a:t>Mistakes never to be made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41CA66-BD87-2642-B16F-3C5B59AA497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5" r="2015" b="2"/>
          <a:stretch/>
        </p:blipFill>
        <p:spPr bwMode="auto">
          <a:xfrm>
            <a:off x="628650" y="939998"/>
            <a:ext cx="3886200" cy="3263504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70951E5-EBBB-7548-B97E-BFACC4FD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3195" y="4767263"/>
            <a:ext cx="5147953" cy="273844"/>
          </a:xfrm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nl-BE"/>
              <a:t>Communication - Writing in English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76DC167-9FA6-7C46-A3CE-38A1215F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1148" y="4735608"/>
            <a:ext cx="814202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68D24A2-3BA0-CE47-9626-802FA61C0AE5}" type="slidenum">
              <a:rPr lang="nl-BE" smtClean="0"/>
              <a:pPr>
                <a:spcAft>
                  <a:spcPts val="600"/>
                </a:spcAft>
              </a:pPr>
              <a:t>4</a:t>
            </a:fld>
            <a:endParaRPr lang="nl-BE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33F24DC-910B-9647-A003-CAAE7E8404C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150" y="1462809"/>
            <a:ext cx="3886200" cy="221788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00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456AD21-8420-4AFA-AD30-2DEBCAE47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7892"/>
            <a:ext cx="7886700" cy="450551"/>
          </a:xfrm>
        </p:spPr>
        <p:txBody>
          <a:bodyPr/>
          <a:lstStyle/>
          <a:p>
            <a:r>
              <a:rPr lang="en-US" dirty="0"/>
              <a:t>Too ←→ to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4E0134D-8375-B04F-ADB0-D06D8B9FA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3195" y="4767263"/>
            <a:ext cx="5147953" cy="273844"/>
          </a:xfrm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nl-BE"/>
              <a:t>Communication - Writing in English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8798B34-FADB-1A4D-88F2-348D13ABB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1148" y="4767263"/>
            <a:ext cx="814202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68D24A2-3BA0-CE47-9626-802FA61C0AE5}" type="slidenum">
              <a:rPr lang="nl-BE" smtClean="0"/>
              <a:pPr>
                <a:spcAft>
                  <a:spcPts val="600"/>
                </a:spcAft>
              </a:pPr>
              <a:t>5</a:t>
            </a:fld>
            <a:endParaRPr lang="nl-BE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50ECE1D3-A743-9A4A-92F9-7A7718C75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2464" y="2187238"/>
            <a:ext cx="7886700" cy="2745638"/>
          </a:xfrm>
        </p:spPr>
        <p:txBody>
          <a:bodyPr>
            <a:normAutofit/>
          </a:bodyPr>
          <a:lstStyle/>
          <a:p>
            <a:pPr fontAlgn="base"/>
            <a:r>
              <a:rPr lang="nl-BE" sz="3600" dirty="0"/>
              <a:t>Too red  </a:t>
            </a:r>
            <a:r>
              <a:rPr lang="en-US" sz="3600" dirty="0"/>
              <a:t> ←→ </a:t>
            </a:r>
            <a:r>
              <a:rPr lang="nl-BE" sz="3600" dirty="0"/>
              <a:t>to London</a:t>
            </a:r>
            <a:r>
              <a:rPr lang="en-US" sz="3600" dirty="0"/>
              <a:t>​</a:t>
            </a:r>
          </a:p>
          <a:p>
            <a:pPr fontAlgn="base"/>
            <a:r>
              <a:rPr lang="nl-BE" sz="3600" dirty="0"/>
              <a:t>Too soon </a:t>
            </a:r>
            <a:r>
              <a:rPr lang="en-US" sz="3600" dirty="0"/>
              <a:t> ←→ </a:t>
            </a:r>
            <a:r>
              <a:rPr lang="nl-BE" sz="3600" dirty="0"/>
              <a:t> something to do</a:t>
            </a:r>
          </a:p>
        </p:txBody>
      </p:sp>
    </p:spTree>
    <p:extLst>
      <p:ext uri="{BB962C8B-B14F-4D97-AF65-F5344CB8AC3E}">
        <p14:creationId xmlns:p14="http://schemas.microsoft.com/office/powerpoint/2010/main" val="2387391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00AD7AC-6E41-AE4E-9F19-C38151488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3195" y="4767263"/>
            <a:ext cx="5147953" cy="273844"/>
          </a:xfrm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nl-BE"/>
              <a:t>Communication - Writing in English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BF53FF2-8A87-6E41-9370-F9059D11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1148" y="4767263"/>
            <a:ext cx="814202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68D24A2-3BA0-CE47-9626-802FA61C0AE5}" type="slidenum">
              <a:rPr lang="nl-BE" smtClean="0"/>
              <a:pPr>
                <a:spcAft>
                  <a:spcPts val="600"/>
                </a:spcAft>
              </a:pPr>
              <a:t>6</a:t>
            </a:fld>
            <a:endParaRPr lang="nl-BE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0834029-0BAA-0847-ABB3-7D8080C0C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164" y="1190981"/>
            <a:ext cx="4160568" cy="310837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CE6341-E39C-1443-408B-DFDAA0B12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7892"/>
            <a:ext cx="7886700" cy="450551"/>
          </a:xfrm>
        </p:spPr>
        <p:txBody>
          <a:bodyPr/>
          <a:lstStyle/>
          <a:p>
            <a:r>
              <a:rPr lang="en-US" dirty="0"/>
              <a:t>Mistakes never to be made</a:t>
            </a:r>
          </a:p>
        </p:txBody>
      </p:sp>
    </p:spTree>
    <p:extLst>
      <p:ext uri="{BB962C8B-B14F-4D97-AF65-F5344CB8AC3E}">
        <p14:creationId xmlns:p14="http://schemas.microsoft.com/office/powerpoint/2010/main" val="182691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763F436-A3CD-4E81-BA38-4D684E1D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7892"/>
            <a:ext cx="7886700" cy="450551"/>
          </a:xfrm>
        </p:spPr>
        <p:txBody>
          <a:bodyPr/>
          <a:lstStyle/>
          <a:p>
            <a:r>
              <a:rPr lang="en-US" dirty="0"/>
              <a:t>then ←→ than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407DC13-E08F-45DB-A81C-F47784C4B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17" y="1566237"/>
            <a:ext cx="9206230" cy="2745638"/>
          </a:xfrm>
        </p:spPr>
        <p:txBody>
          <a:bodyPr>
            <a:normAutofit/>
          </a:bodyPr>
          <a:lstStyle/>
          <a:p>
            <a:pPr fontAlgn="base"/>
            <a:r>
              <a:rPr lang="nl-BE" sz="3200" dirty="0"/>
              <a:t>Time </a:t>
            </a:r>
            <a:r>
              <a:rPr lang="en-US" sz="3200" dirty="0"/>
              <a:t> ←→ </a:t>
            </a:r>
            <a:r>
              <a:rPr lang="nl-BE" sz="3200" dirty="0"/>
              <a:t> comparison </a:t>
            </a:r>
            <a:r>
              <a:rPr lang="en-US" sz="3200" dirty="0"/>
              <a:t>​</a:t>
            </a:r>
          </a:p>
          <a:p>
            <a:pPr marL="0" indent="0" fontAlgn="base">
              <a:buNone/>
            </a:pPr>
            <a:endParaRPr lang="nl-BE" sz="3200" dirty="0"/>
          </a:p>
          <a:p>
            <a:pPr fontAlgn="base"/>
            <a:r>
              <a:rPr lang="nl-BE" sz="3200" dirty="0"/>
              <a:t>Then she kissed me </a:t>
            </a:r>
            <a:r>
              <a:rPr lang="en-US" sz="3200" dirty="0"/>
              <a:t> ←→ </a:t>
            </a:r>
            <a:r>
              <a:rPr lang="nl-BE" sz="3200" dirty="0"/>
              <a:t>older than my brother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6BAE256-4AD6-1743-93AF-2B9442C2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3195" y="4767263"/>
            <a:ext cx="5147953" cy="273844"/>
          </a:xfrm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nl-BE"/>
              <a:t>Communication - Writing in English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78EB3B0-CBE5-A349-9D4B-2007143E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1148" y="4767263"/>
            <a:ext cx="814202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68D24A2-3BA0-CE47-9626-802FA61C0AE5}" type="slidenum">
              <a:rPr lang="nl-BE" smtClean="0"/>
              <a:pPr>
                <a:spcAft>
                  <a:spcPts val="600"/>
                </a:spcAft>
              </a:pPr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01748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D48A2B48-E678-AD46-9F2F-8C8A3E5A7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23EA9DB-445B-DA4F-8278-B1EC45FE5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8</a:t>
            </a:fld>
            <a:endParaRPr lang="nl-BE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B614819-A6BD-D944-A41A-5705B6C96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755" y="1038619"/>
            <a:ext cx="1918145" cy="33678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B745D5A-361F-5633-7401-E14483A0CDF5}"/>
              </a:ext>
            </a:extLst>
          </p:cNvPr>
          <p:cNvSpPr txBox="1">
            <a:spLocks/>
          </p:cNvSpPr>
          <p:nvPr/>
        </p:nvSpPr>
        <p:spPr>
          <a:xfrm>
            <a:off x="628650" y="407892"/>
            <a:ext cx="7886700" cy="450551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AD0F0A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Mistakes never to be made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781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2DD6F5-CC50-2A4B-97E5-99D741DE0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We’re  </a:t>
            </a:r>
            <a:r>
              <a:rPr lang="en-US" dirty="0"/>
              <a:t> ←→ </a:t>
            </a:r>
            <a:r>
              <a:rPr lang="nl-BE" dirty="0"/>
              <a:t> were </a:t>
            </a:r>
            <a:r>
              <a:rPr lang="en-US" dirty="0"/>
              <a:t> ←→ </a:t>
            </a:r>
            <a:r>
              <a:rPr lang="nl-BE" dirty="0"/>
              <a:t> where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B890129-84F2-AF4B-9642-38AAA86CA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690" y="1506938"/>
            <a:ext cx="7886700" cy="3021683"/>
          </a:xfrm>
        </p:spPr>
        <p:txBody>
          <a:bodyPr>
            <a:normAutofit/>
          </a:bodyPr>
          <a:lstStyle/>
          <a:p>
            <a:pPr fontAlgn="base"/>
            <a:r>
              <a:rPr lang="nl-BE" sz="2800" dirty="0">
                <a:solidFill>
                  <a:srgbClr val="000000"/>
                </a:solidFill>
                <a:latin typeface="Calibri" panose="020F0502020204030204" pitchFamily="34" charset="0"/>
              </a:rPr>
              <a:t>Verb form </a:t>
            </a:r>
            <a:r>
              <a:rPr lang="en-US" sz="2800" dirty="0"/>
              <a:t> ←→ </a:t>
            </a:r>
            <a:r>
              <a:rPr lang="nl-BE" sz="2800" dirty="0">
                <a:solidFill>
                  <a:srgbClr val="000000"/>
                </a:solidFill>
                <a:latin typeface="Calibri" panose="020F0502020204030204" pitchFamily="34" charset="0"/>
              </a:rPr>
              <a:t> verb form </a:t>
            </a:r>
            <a:r>
              <a:rPr lang="en-US" sz="2800" dirty="0"/>
              <a:t> ←→ </a:t>
            </a:r>
            <a:r>
              <a:rPr lang="nl-BE" sz="2800" dirty="0">
                <a:solidFill>
                  <a:srgbClr val="000000"/>
                </a:solidFill>
                <a:latin typeface="Calibri" panose="020F0502020204030204" pitchFamily="34" charset="0"/>
              </a:rPr>
              <a:t> place​</a:t>
            </a:r>
          </a:p>
          <a:p>
            <a:pPr marL="0" indent="0" fontAlgn="base">
              <a:buNone/>
            </a:pPr>
            <a:endParaRPr lang="nl-BE" sz="2800" dirty="0">
              <a:solidFill>
                <a:srgbClr val="000000"/>
              </a:solidFill>
            </a:endParaRPr>
          </a:p>
          <a:p>
            <a:pPr fontAlgn="base"/>
            <a:r>
              <a:rPr lang="nl-BE" sz="2800" dirty="0">
                <a:solidFill>
                  <a:srgbClr val="000000"/>
                </a:solidFill>
                <a:latin typeface="Calibri" panose="020F0502020204030204" pitchFamily="34" charset="0"/>
              </a:rPr>
              <a:t>We’re fine </a:t>
            </a:r>
            <a:r>
              <a:rPr lang="en-US" sz="2800" dirty="0"/>
              <a:t> ←→ </a:t>
            </a:r>
            <a:r>
              <a:rPr lang="nl-BE" sz="2800" dirty="0">
                <a:solidFill>
                  <a:srgbClr val="000000"/>
                </a:solidFill>
                <a:latin typeface="Calibri" panose="020F0502020204030204" pitchFamily="34" charset="0"/>
              </a:rPr>
              <a:t>we were fine </a:t>
            </a:r>
            <a:r>
              <a:rPr lang="en-US" sz="2800" dirty="0"/>
              <a:t> ←→ </a:t>
            </a:r>
            <a:r>
              <a:rPr lang="nl-BE" sz="2800" dirty="0">
                <a:solidFill>
                  <a:srgbClr val="000000"/>
                </a:solidFill>
                <a:latin typeface="Calibri" panose="020F0502020204030204" pitchFamily="34" charset="0"/>
              </a:rPr>
              <a:t> Where am I?​</a:t>
            </a:r>
            <a:endParaRPr lang="nl-BE" sz="2800" dirty="0">
              <a:solidFill>
                <a:srgbClr val="000000"/>
              </a:solidFill>
            </a:endParaRPr>
          </a:p>
          <a:p>
            <a:pPr marL="0" indent="0" fontAlgn="base">
              <a:buNone/>
            </a:pPr>
            <a:r>
              <a:rPr lang="nl-BE" sz="2800" dirty="0">
                <a:solidFill>
                  <a:srgbClr val="000000"/>
                </a:solidFill>
                <a:latin typeface="Calibri" panose="020F0502020204030204" pitchFamily="34" charset="0"/>
              </a:rPr>
              <a:t>   (We are fine)</a:t>
            </a:r>
          </a:p>
          <a:p>
            <a:pPr marL="0" indent="0">
              <a:buNone/>
            </a:pPr>
            <a:endParaRPr lang="nl-BE" sz="280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F59951E-D18C-AB49-9150-D8AD5E7F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72A4592-226D-ED47-922B-49C70F207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9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40942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380405-EFD1-D443-89C3-724455C74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they’re </a:t>
            </a:r>
            <a:r>
              <a:rPr lang="en-US" dirty="0"/>
              <a:t>←→ </a:t>
            </a:r>
            <a:r>
              <a:rPr lang="nl-BE" dirty="0"/>
              <a:t>their </a:t>
            </a:r>
            <a:r>
              <a:rPr lang="en-US" dirty="0"/>
              <a:t>←→ </a:t>
            </a:r>
            <a:r>
              <a:rPr lang="nl-BE" dirty="0"/>
              <a:t>there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A49E8BB-B0EA-8C4E-93DE-CF5F669C5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52973"/>
            <a:ext cx="9443297" cy="2719759"/>
          </a:xfrm>
        </p:spPr>
        <p:txBody>
          <a:bodyPr>
            <a:normAutofit/>
          </a:bodyPr>
          <a:lstStyle/>
          <a:p>
            <a:pPr fontAlgn="base"/>
            <a:r>
              <a:rPr lang="en-US" sz="2800" dirty="0"/>
              <a:t>Verb form  ←→  possessive   ←→  adverb​</a:t>
            </a:r>
          </a:p>
          <a:p>
            <a:pPr marL="0" indent="0" fontAlgn="base">
              <a:buNone/>
            </a:pPr>
            <a:endParaRPr lang="en-US" sz="2800" dirty="0"/>
          </a:p>
          <a:p>
            <a:pPr fontAlgn="base"/>
            <a:r>
              <a:rPr lang="en-US" sz="2800" dirty="0"/>
              <a:t>They’re fine  ←→ it is their car ←→  I’m not there​</a:t>
            </a:r>
          </a:p>
          <a:p>
            <a:pPr marL="0" indent="0" fontAlgn="base">
              <a:buNone/>
            </a:pPr>
            <a:r>
              <a:rPr lang="en-US" sz="2800" dirty="0"/>
              <a:t>                                                            There is a problem!​</a:t>
            </a:r>
          </a:p>
          <a:p>
            <a:endParaRPr lang="nl-BE" sz="280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D05305-7A85-3F49-952A-51D92BA68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486BEB-28B1-B049-9ECD-B3B3C7DD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10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39782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5BB1A4F3-0D96-F042-AE3D-BAE00033C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CA7B45-3EE5-A040-912E-11C0AD35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11</a:t>
            </a:fld>
            <a:endParaRPr lang="nl-BE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6F581C4-BFB2-B349-9D7F-E10D75B1B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250" y="802682"/>
            <a:ext cx="5805748" cy="39329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4485F0F-E183-D97A-9347-E6A317477DD8}"/>
              </a:ext>
            </a:extLst>
          </p:cNvPr>
          <p:cNvSpPr txBox="1">
            <a:spLocks/>
          </p:cNvSpPr>
          <p:nvPr/>
        </p:nvSpPr>
        <p:spPr>
          <a:xfrm>
            <a:off x="628650" y="407892"/>
            <a:ext cx="7886700" cy="450551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AD0F0A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Mistakes never to be made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405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A9F20C3A-063F-E54E-B4E5-7587AFD39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Your </a:t>
            </a:r>
            <a:r>
              <a:rPr lang="en-US" dirty="0"/>
              <a:t>←→ you’re</a:t>
            </a:r>
            <a:endParaRPr lang="nl-BE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0AEC5C0E-9FBE-5F44-956A-531C8DB46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0884"/>
            <a:ext cx="8312150" cy="281261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fontAlgn="base"/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Possessive </a:t>
            </a:r>
            <a:r>
              <a:rPr lang="en-US" sz="3600" dirty="0"/>
              <a:t> ←→ </a:t>
            </a:r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 verb form   </a:t>
            </a:r>
            <a:r>
              <a:rPr lang="en-US" sz="36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3600" dirty="0">
              <a:solidFill>
                <a:srgbClr val="000000"/>
              </a:solidFill>
            </a:endParaRPr>
          </a:p>
          <a:p>
            <a:pPr marL="0" indent="0" fontAlgn="base">
              <a:buNone/>
            </a:pPr>
            <a:endParaRPr lang="nl-BE" sz="3600" dirty="0">
              <a:solidFill>
                <a:srgbClr val="000000"/>
              </a:solidFill>
            </a:endParaRPr>
          </a:p>
          <a:p>
            <a:pPr fontAlgn="base"/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Your car </a:t>
            </a:r>
            <a:r>
              <a:rPr lang="en-US" sz="3600" dirty="0"/>
              <a:t> ←→ </a:t>
            </a:r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 you’re cool</a:t>
            </a:r>
            <a:r>
              <a:rPr lang="en-US" sz="3600" dirty="0">
                <a:solidFill>
                  <a:srgbClr val="000000"/>
                </a:solidFill>
              </a:rPr>
              <a:t> (</a:t>
            </a:r>
            <a:r>
              <a:rPr lang="nl-BE" sz="3600" dirty="0">
                <a:solidFill>
                  <a:srgbClr val="000000"/>
                </a:solidFill>
                <a:latin typeface="Calibri" panose="020F0502020204030204" pitchFamily="34" charset="0"/>
              </a:rPr>
              <a:t>you are cool) </a:t>
            </a:r>
            <a:r>
              <a:rPr lang="en-US" sz="36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3600" dirty="0">
              <a:solidFill>
                <a:srgbClr val="000000"/>
              </a:solidFill>
            </a:endParaRPr>
          </a:p>
          <a:p>
            <a:endParaRPr lang="en-US" sz="3600" dirty="0">
              <a:solidFill>
                <a:srgbClr val="000000"/>
              </a:solidFill>
              <a:latin typeface="Calibri"/>
              <a:ea typeface="Calibri"/>
            </a:endParaRPr>
          </a:p>
          <a:p>
            <a:r>
              <a:rPr lang="en-US" sz="36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Ur is not a word!!!!!</a:t>
            </a:r>
          </a:p>
          <a:p>
            <a:pPr marL="0" indent="0">
              <a:buNone/>
            </a:pPr>
            <a:endParaRPr lang="nl-BE" sz="3600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F308685-6C09-224D-903A-CC761705A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16F7741-4B61-7B4B-9ED2-FCA2704A5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48315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6174D6D-0F44-A74A-8D2E-26CC0A777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FFF63E-DEFC-9B4A-A302-D7AFD5926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13</a:t>
            </a:fld>
            <a:endParaRPr lang="nl-BE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BE658F4-A44F-EB47-828B-3B1C424CF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74" y="858442"/>
            <a:ext cx="3751026" cy="37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C477542C-007A-D042-A5B3-FD3840173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755" y="858443"/>
            <a:ext cx="2805245" cy="367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8D5448C-9669-ADDC-947C-E99F5A840D0C}"/>
              </a:ext>
            </a:extLst>
          </p:cNvPr>
          <p:cNvSpPr txBox="1">
            <a:spLocks/>
          </p:cNvSpPr>
          <p:nvPr/>
        </p:nvSpPr>
        <p:spPr>
          <a:xfrm>
            <a:off x="628650" y="407892"/>
            <a:ext cx="7886700" cy="450551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AD0F0A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Mistakes never to be made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205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01B2FE0-4D65-7546-ABE1-E463800AF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Subject verb agreement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C21E9D73-CBA3-C543-A82D-BE60E3A75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03948"/>
            <a:ext cx="7886700" cy="269955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fontAlgn="base"/>
            <a:r>
              <a:rPr lang="en-US" sz="3200" dirty="0">
                <a:latin typeface="Arial"/>
                <a:cs typeface="Arial"/>
              </a:rPr>
              <a:t>A singular subject takes a singular verb, whereas a plural subject takes a plural verb​.</a:t>
            </a:r>
            <a:endParaRPr lang="en-US" sz="3200" dirty="0"/>
          </a:p>
          <a:p>
            <a:pPr marL="0" indent="0" fontAlgn="base">
              <a:buNone/>
            </a:pPr>
            <a:endParaRPr lang="en-US" sz="3200" dirty="0"/>
          </a:p>
          <a:p>
            <a:pPr fontAlgn="base"/>
            <a:r>
              <a:rPr lang="en-US" sz="3200" dirty="0"/>
              <a:t>The </a:t>
            </a:r>
            <a:r>
              <a:rPr lang="en-US" sz="3200" b="1" dirty="0"/>
              <a:t>list</a:t>
            </a:r>
            <a:r>
              <a:rPr lang="en-US" sz="3200" dirty="0"/>
              <a:t> of items </a:t>
            </a:r>
            <a:r>
              <a:rPr lang="en-US" sz="3200" b="1" dirty="0"/>
              <a:t>is</a:t>
            </a:r>
            <a:r>
              <a:rPr lang="en-US" sz="3200" dirty="0"/>
              <a:t> on the desk.​</a:t>
            </a:r>
          </a:p>
          <a:p>
            <a:pPr fontAlgn="base"/>
            <a:r>
              <a:rPr lang="en-US" sz="3200" dirty="0"/>
              <a:t>The </a:t>
            </a:r>
            <a:r>
              <a:rPr lang="en-US" sz="3200" b="1" dirty="0"/>
              <a:t>items</a:t>
            </a:r>
            <a:r>
              <a:rPr lang="en-US" sz="3200" dirty="0"/>
              <a:t> </a:t>
            </a:r>
            <a:r>
              <a:rPr lang="en-US" sz="3200" b="1" dirty="0"/>
              <a:t>are</a:t>
            </a:r>
            <a:r>
              <a:rPr lang="en-US" sz="3200" dirty="0"/>
              <a:t> on the desk.</a:t>
            </a:r>
          </a:p>
          <a:p>
            <a:endParaRPr lang="nl-BE" sz="3200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A0AA10E-DA90-374E-AABE-EF293B47F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3CF9F6C-C00D-E046-B7B5-427C6D3B9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01850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C4AC83C-71E0-2C49-A1A3-767D968F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Adjective vs adverb</a:t>
            </a:r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55A651B0-06FE-D24E-9822-8B3EDB986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939998"/>
            <a:ext cx="8461163" cy="326350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fontAlgn="base"/>
            <a:r>
              <a:rPr lang="nl-BE" sz="2800" dirty="0"/>
              <a:t>Mostly: adjective + ly = adverb​</a:t>
            </a:r>
          </a:p>
          <a:p>
            <a:pPr fontAlgn="base"/>
            <a:endParaRPr lang="nl-BE" sz="2800" dirty="0"/>
          </a:p>
          <a:p>
            <a:r>
              <a:rPr lang="nl-BE" dirty="0">
                <a:latin typeface="Arial"/>
                <a:cs typeface="Arial"/>
              </a:rPr>
              <a:t>He is </a:t>
            </a:r>
            <a:r>
              <a:rPr lang="nl-BE" b="1" dirty="0" err="1">
                <a:latin typeface="Arial"/>
                <a:cs typeface="Arial"/>
              </a:rPr>
              <a:t>successful</a:t>
            </a:r>
            <a:r>
              <a:rPr lang="nl-BE" dirty="0">
                <a:latin typeface="Arial"/>
                <a:cs typeface="Arial"/>
              </a:rPr>
              <a:t>. ←→ He </a:t>
            </a:r>
            <a:r>
              <a:rPr lang="nl-BE" dirty="0" err="1">
                <a:latin typeface="Arial"/>
                <a:cs typeface="Arial"/>
              </a:rPr>
              <a:t>negotiated</a:t>
            </a:r>
            <a:r>
              <a:rPr lang="nl-BE" dirty="0">
                <a:latin typeface="Arial"/>
                <a:cs typeface="Arial"/>
              </a:rPr>
              <a:t> </a:t>
            </a:r>
            <a:r>
              <a:rPr lang="nl-BE" dirty="0" err="1">
                <a:latin typeface="Arial"/>
                <a:cs typeface="Arial"/>
              </a:rPr>
              <a:t>the</a:t>
            </a:r>
            <a:r>
              <a:rPr lang="nl-BE" dirty="0">
                <a:latin typeface="Arial"/>
                <a:cs typeface="Arial"/>
              </a:rPr>
              <a:t> deal </a:t>
            </a:r>
            <a:r>
              <a:rPr lang="nl-BE" b="1" dirty="0" err="1">
                <a:latin typeface="Arial"/>
                <a:cs typeface="Arial"/>
              </a:rPr>
              <a:t>successfully</a:t>
            </a:r>
            <a:r>
              <a:rPr lang="nl-BE" dirty="0">
                <a:latin typeface="Arial"/>
                <a:cs typeface="Arial"/>
              </a:rPr>
              <a:t>. </a:t>
            </a:r>
            <a:endParaRPr lang="nl-BE" dirty="0"/>
          </a:p>
          <a:p>
            <a:endParaRPr lang="nl-BE" dirty="0">
              <a:latin typeface="Arial"/>
              <a:cs typeface="Arial"/>
            </a:endParaRPr>
          </a:p>
          <a:p>
            <a:pPr fontAlgn="base"/>
            <a:r>
              <a:rPr lang="nl-BE" dirty="0">
                <a:latin typeface="Arial"/>
                <a:cs typeface="Arial"/>
              </a:rPr>
              <a:t>A </a:t>
            </a:r>
            <a:r>
              <a:rPr lang="nl-BE" b="1" dirty="0">
                <a:latin typeface="Arial"/>
                <a:cs typeface="Arial"/>
              </a:rPr>
              <a:t>heavy </a:t>
            </a:r>
            <a:r>
              <a:rPr lang="nl-BE" dirty="0" err="1">
                <a:latin typeface="Arial"/>
                <a:cs typeface="Arial"/>
              </a:rPr>
              <a:t>duty</a:t>
            </a:r>
            <a:r>
              <a:rPr lang="nl-BE" dirty="0">
                <a:latin typeface="Arial"/>
                <a:cs typeface="Arial"/>
              </a:rPr>
              <a:t>.  </a:t>
            </a:r>
            <a:r>
              <a:rPr lang="en-US" dirty="0">
                <a:latin typeface="Arial"/>
                <a:cs typeface="Arial"/>
              </a:rPr>
              <a:t> ←→ </a:t>
            </a:r>
            <a:r>
              <a:rPr lang="nl-BE" dirty="0">
                <a:latin typeface="Arial"/>
                <a:cs typeface="Arial"/>
              </a:rPr>
              <a:t> A </a:t>
            </a:r>
            <a:r>
              <a:rPr lang="nl-BE" b="1" dirty="0" err="1">
                <a:latin typeface="Arial"/>
                <a:cs typeface="Arial"/>
              </a:rPr>
              <a:t>heavily</a:t>
            </a:r>
            <a:r>
              <a:rPr lang="nl-BE" b="1" dirty="0">
                <a:latin typeface="Arial"/>
                <a:cs typeface="Arial"/>
              </a:rPr>
              <a:t> </a:t>
            </a:r>
            <a:r>
              <a:rPr lang="nl-BE" dirty="0" err="1">
                <a:latin typeface="Arial"/>
                <a:cs typeface="Arial"/>
              </a:rPr>
              <a:t>engaged</a:t>
            </a:r>
            <a:r>
              <a:rPr lang="nl-BE" dirty="0">
                <a:latin typeface="Arial"/>
                <a:cs typeface="Arial"/>
              </a:rPr>
              <a:t> employee.</a:t>
            </a:r>
            <a:endParaRPr lang="en-US" dirty="0">
              <a:latin typeface="Arial"/>
              <a:cs typeface="Arial"/>
            </a:endParaRPr>
          </a:p>
          <a:p>
            <a:endParaRPr lang="nl-BE" sz="2800" dirty="0"/>
          </a:p>
          <a:p>
            <a:r>
              <a:rPr lang="nl-BE" sz="2800" dirty="0">
                <a:latin typeface="Arial"/>
                <a:cs typeface="Arial"/>
              </a:rPr>
              <a:t>But: </a:t>
            </a:r>
            <a:r>
              <a:rPr lang="nl-BE" sz="2800" dirty="0">
                <a:solidFill>
                  <a:schemeClr val="accent1"/>
                </a:solidFill>
                <a:latin typeface="Arial"/>
                <a:cs typeface="Arial"/>
              </a:rPr>
              <a:t>hard, fast, … </a:t>
            </a:r>
            <a:r>
              <a:rPr lang="en-US" sz="2800" dirty="0">
                <a:latin typeface="Arial"/>
                <a:cs typeface="Arial"/>
              </a:rPr>
              <a:t>→ some adverbs don’t take –</a:t>
            </a:r>
            <a:r>
              <a:rPr lang="en-US" sz="2800" dirty="0" err="1">
                <a:latin typeface="Arial"/>
                <a:cs typeface="Arial"/>
              </a:rPr>
              <a:t>ly</a:t>
            </a:r>
            <a:endParaRPr lang="nl-BE" sz="2800" dirty="0" err="1"/>
          </a:p>
          <a:p>
            <a:r>
              <a:rPr lang="en-US" sz="2800" dirty="0">
                <a:latin typeface="Arial"/>
                <a:cs typeface="Arial"/>
              </a:rPr>
              <a:t>Good = well. You did well! </a:t>
            </a:r>
            <a:endParaRPr lang="en-US" sz="280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3C1AEF6-85D9-F14E-8BC2-B04202D6A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98E6CAD-9EED-D241-B1C6-5C97199E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15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37975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0EEFB-2B34-5D74-782B-802A4EA1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FA7E976F-EB5B-B815-62E1-28A4EB19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Various</a:t>
            </a:r>
            <a:endParaRPr lang="nl-NL" dirty="0" err="1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A9E91CDA-7A46-653B-3287-B56A891D5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939998"/>
            <a:ext cx="7644255" cy="32635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fontAlgn="base"/>
            <a:r>
              <a:rPr lang="nl-BE" sz="2800" dirty="0">
                <a:latin typeface="Arial"/>
                <a:cs typeface="Arial"/>
              </a:rPr>
              <a:t>I is </a:t>
            </a:r>
            <a:r>
              <a:rPr lang="nl-BE" sz="2800" err="1">
                <a:latin typeface="Arial"/>
                <a:cs typeface="Arial"/>
              </a:rPr>
              <a:t>always</a:t>
            </a:r>
            <a:r>
              <a:rPr lang="nl-BE" sz="2800" dirty="0">
                <a:latin typeface="Arial"/>
                <a:cs typeface="Arial"/>
              </a:rPr>
              <a:t> </a:t>
            </a:r>
            <a:r>
              <a:rPr lang="nl-BE" sz="2800" err="1">
                <a:latin typeface="Arial"/>
                <a:cs typeface="Arial"/>
              </a:rPr>
              <a:t>with</a:t>
            </a:r>
            <a:r>
              <a:rPr lang="nl-BE" sz="2800" dirty="0">
                <a:latin typeface="Arial"/>
                <a:cs typeface="Arial"/>
              </a:rPr>
              <a:t> a </a:t>
            </a:r>
            <a:r>
              <a:rPr lang="nl-BE" sz="2800" err="1">
                <a:latin typeface="Arial"/>
                <a:cs typeface="Arial"/>
              </a:rPr>
              <a:t>capital</a:t>
            </a:r>
            <a:r>
              <a:rPr lang="nl-BE" sz="2800" dirty="0">
                <a:latin typeface="Arial"/>
                <a:cs typeface="Arial"/>
              </a:rPr>
              <a:t> letter. </a:t>
            </a:r>
          </a:p>
          <a:p>
            <a:pPr fontAlgn="base"/>
            <a:r>
              <a:rPr lang="nl-BE" sz="2800" dirty="0">
                <a:latin typeface="Arial"/>
                <a:cs typeface="Arial"/>
              </a:rPr>
              <a:t>A lot (NOT </a:t>
            </a:r>
            <a:r>
              <a:rPr lang="nl-BE" sz="2800" err="1">
                <a:latin typeface="Arial"/>
                <a:cs typeface="Arial"/>
              </a:rPr>
              <a:t>allot</a:t>
            </a:r>
            <a:r>
              <a:rPr lang="nl-BE" sz="2800" dirty="0">
                <a:latin typeface="Arial"/>
                <a:cs typeface="Arial"/>
              </a:rPr>
              <a:t>, </a:t>
            </a:r>
            <a:r>
              <a:rPr lang="nl-BE" sz="2800" err="1">
                <a:latin typeface="Arial"/>
                <a:cs typeface="Arial"/>
              </a:rPr>
              <a:t>alot</a:t>
            </a:r>
            <a:r>
              <a:rPr lang="nl-BE" sz="2800" dirty="0">
                <a:latin typeface="Arial"/>
                <a:cs typeface="Arial"/>
              </a:rPr>
              <a:t>). </a:t>
            </a:r>
          </a:p>
          <a:p>
            <a:pPr fontAlgn="base"/>
            <a:r>
              <a:rPr lang="nl-BE" sz="2800" dirty="0"/>
              <a:t>Affect (verb) vs. Effect (the effect it has on me). </a:t>
            </a:r>
          </a:p>
          <a:p>
            <a:pPr fontAlgn="base"/>
            <a:r>
              <a:rPr lang="nl-BE" sz="2800" dirty="0">
                <a:latin typeface="Arial"/>
                <a:cs typeface="Arial"/>
              </a:rPr>
              <a:t>It's (</a:t>
            </a:r>
            <a:r>
              <a:rPr lang="nl-BE" sz="2800" err="1">
                <a:latin typeface="Arial"/>
                <a:cs typeface="Arial"/>
              </a:rPr>
              <a:t>it</a:t>
            </a:r>
            <a:r>
              <a:rPr lang="nl-BE" sz="2800" dirty="0">
                <a:latin typeface="Arial"/>
                <a:cs typeface="Arial"/>
              </a:rPr>
              <a:t> is), </a:t>
            </a:r>
            <a:r>
              <a:rPr lang="nl-BE" sz="2800" err="1">
                <a:latin typeface="Arial"/>
                <a:cs typeface="Arial"/>
              </a:rPr>
              <a:t>its</a:t>
            </a:r>
            <a:r>
              <a:rPr lang="nl-BE" sz="2800">
                <a:latin typeface="Arial"/>
                <a:cs typeface="Arial"/>
              </a:rPr>
              <a:t> (</a:t>
            </a:r>
            <a:r>
              <a:rPr lang="nl-BE" sz="2800" err="1">
                <a:latin typeface="Arial"/>
                <a:cs typeface="Arial"/>
              </a:rPr>
              <a:t>possessive</a:t>
            </a:r>
            <a:r>
              <a:rPr lang="nl-BE" sz="2800">
                <a:latin typeface="Arial"/>
                <a:cs typeface="Arial"/>
              </a:rPr>
              <a:t>).</a:t>
            </a:r>
          </a:p>
          <a:p>
            <a:pPr fontAlgn="base"/>
            <a:r>
              <a:rPr lang="nl-BE" sz="2800"/>
              <a:t>...</a:t>
            </a:r>
            <a:endParaRPr lang="nl-BE" sz="2800" dirty="0"/>
          </a:p>
          <a:p>
            <a:endParaRPr lang="nl-BE" sz="280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2257414-84EA-4AD7-D117-50D6FDCA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D231779-8844-B593-1C6F-E9C0D3B05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16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76669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A99376F-C3FC-E54A-9A13-16ADBDE9F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Recap of mistakes never to be made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92A5DEC5-4C9B-234F-BCAD-94CF427F4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7584" y="1224950"/>
            <a:ext cx="7886700" cy="297855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fontAlgn="base">
              <a:buFont typeface="+mj-lt"/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To vs. too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3200" dirty="0">
              <a:solidFill>
                <a:srgbClr val="000000"/>
              </a:solidFill>
            </a:endParaRPr>
          </a:p>
          <a:p>
            <a:pPr fontAlgn="base">
              <a:buFont typeface="+mj-lt"/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Then vs. than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3200" dirty="0">
              <a:solidFill>
                <a:srgbClr val="000000"/>
              </a:solidFill>
            </a:endParaRPr>
          </a:p>
          <a:p>
            <a:pPr fontAlgn="base">
              <a:buFont typeface="+mj-lt"/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Your – you’re / where – we’re – were / 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3200" dirty="0">
              <a:solidFill>
                <a:srgbClr val="000000"/>
              </a:solidFill>
            </a:endParaRPr>
          </a:p>
          <a:p>
            <a:pPr fontAlgn="base">
              <a:buFont typeface="+mj-lt"/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their – they’re – there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3200" dirty="0">
              <a:solidFill>
                <a:srgbClr val="000000"/>
              </a:solidFill>
            </a:endParaRPr>
          </a:p>
          <a:p>
            <a:pPr fontAlgn="base">
              <a:buFont typeface="+mj-lt"/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Subject-verb agreement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3200" dirty="0">
              <a:solidFill>
                <a:srgbClr val="000000"/>
              </a:solidFill>
            </a:endParaRPr>
          </a:p>
          <a:p>
            <a:pPr fontAlgn="base">
              <a:buFont typeface="+mj-lt"/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Adjective vs. Adverb</a:t>
            </a:r>
            <a:endParaRPr lang="en-US" sz="3200" dirty="0">
              <a:solidFill>
                <a:srgbClr val="000000"/>
              </a:solidFill>
            </a:endParaRPr>
          </a:p>
          <a:p>
            <a:pPr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Calibri"/>
                <a:ea typeface="Calibri"/>
              </a:rPr>
              <a:t>Various</a:t>
            </a:r>
          </a:p>
          <a:p>
            <a:endParaRPr lang="nl-BE" sz="3200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3FDA7AC-E426-4B40-B37F-0F4491A4C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Communication - Writing in English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02D3FB1-851E-2E46-A719-1EE7DC0F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24A2-3BA0-CE47-9626-802FA61C0AE5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62689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317E0D-307C-A741-B779-C16B00DA7191}"/>
              </a:ext>
            </a:extLst>
          </p:cNvPr>
          <p:cNvSpPr txBox="1"/>
          <p:nvPr/>
        </p:nvSpPr>
        <p:spPr>
          <a:xfrm>
            <a:off x="1421962" y="1495281"/>
            <a:ext cx="6294889" cy="14157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GB"/>
            </a:defPPr>
            <a:lvl1pPr algn="l" defTabSz="336947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1pPr>
            <a:lvl2pPr marL="557213" indent="-214313" algn="l" defTabSz="336947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2pPr>
            <a:lvl3pPr marL="857250" indent="-171450" algn="l" defTabSz="336947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3pPr>
            <a:lvl4pPr marL="1200150" indent="-171450" algn="l" defTabSz="336947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4pPr>
            <a:lvl5pPr marL="1543050" indent="-171450" algn="l" defTabSz="336947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5pPr>
            <a:lvl6pPr marL="1714500" algn="l" defTabSz="6858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6pPr>
            <a:lvl7pPr marL="2057400" algn="l" defTabSz="6858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7pPr>
            <a:lvl8pPr marL="2400300" algn="l" defTabSz="6858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8pPr>
            <a:lvl9pPr marL="2743200" algn="l" defTabSz="6858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9pPr>
          </a:lstStyle>
          <a:p>
            <a:pPr algn="l"/>
            <a:r>
              <a:rPr lang="en-BE" sz="8600">
                <a:latin typeface="Century Gothic"/>
                <a:ea typeface="Ayuthaya" pitchFamily="2" charset="-34"/>
                <a:cs typeface="Ayuthaya"/>
              </a:rPr>
              <a:t>Questions</a:t>
            </a:r>
            <a:r>
              <a:rPr lang="en-BE" sz="8600" dirty="0">
                <a:latin typeface="Algerian"/>
                <a:ea typeface="Ayuthaya" pitchFamily="2" charset="-34"/>
                <a:cs typeface="Ayuthay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2565708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Themakleuren AP">
      <a:dk1>
        <a:srgbClr val="404040"/>
      </a:dk1>
      <a:lt1>
        <a:srgbClr val="FFFFFF"/>
      </a:lt1>
      <a:dk2>
        <a:srgbClr val="404040"/>
      </a:dk2>
      <a:lt2>
        <a:srgbClr val="E7E6E6"/>
      </a:lt2>
      <a:accent1>
        <a:srgbClr val="AD0F0A"/>
      </a:accent1>
      <a:accent2>
        <a:srgbClr val="F59A00"/>
      </a:accent2>
      <a:accent3>
        <a:srgbClr val="AD1073"/>
      </a:accent3>
      <a:accent4>
        <a:srgbClr val="009EAD"/>
      </a:accent4>
      <a:accent5>
        <a:srgbClr val="1D9659"/>
      </a:accent5>
      <a:accent6>
        <a:srgbClr val="70AD47"/>
      </a:accent6>
      <a:hlink>
        <a:srgbClr val="AD0F0A"/>
      </a:hlink>
      <a:folHlink>
        <a:srgbClr val="404040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AD0F0A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>
              <a:lumMod val="75000"/>
              <a:lumOff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0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sjabloon_AP_19-9_NL.pptx" id="{3BD77326-128E-424F-ABB3-A7B63DAE3F53}" vid="{476C2211-F20B-4BF4-8DBF-66E6F50A05DE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Office_2016_PowerPoint_AP-presentatie_(verhouding 16-9)</Template>
  <TotalTime>132</TotalTime>
  <Words>509</Words>
  <Application>Microsoft Office PowerPoint</Application>
  <PresentationFormat>Diavoorstelling (16:9)</PresentationFormat>
  <Paragraphs>108</Paragraphs>
  <Slides>18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19" baseType="lpstr">
      <vt:lpstr>Kantoorthema</vt:lpstr>
      <vt:lpstr>Communication</vt:lpstr>
      <vt:lpstr>Mistakes never to be made</vt:lpstr>
      <vt:lpstr>Exercise</vt:lpstr>
      <vt:lpstr>Mistakes never to be made</vt:lpstr>
      <vt:lpstr>Too ←→ to</vt:lpstr>
      <vt:lpstr>Mistakes never to be made</vt:lpstr>
      <vt:lpstr>then ←→ than</vt:lpstr>
      <vt:lpstr>PowerPoint-presentatie</vt:lpstr>
      <vt:lpstr>We’re   ←→  were  ←→  where</vt:lpstr>
      <vt:lpstr>they’re ←→ their ←→ there</vt:lpstr>
      <vt:lpstr>PowerPoint-presentatie</vt:lpstr>
      <vt:lpstr>Your ←→ you’re</vt:lpstr>
      <vt:lpstr>PowerPoint-presentatie</vt:lpstr>
      <vt:lpstr>Subject verb agreement</vt:lpstr>
      <vt:lpstr>Adjective vs adverb</vt:lpstr>
      <vt:lpstr>Various</vt:lpstr>
      <vt:lpstr>Recap of mistakes never to be made</vt:lpstr>
      <vt:lpstr>PowerPoint-presentatie</vt:lpstr>
    </vt:vector>
  </TitlesOfParts>
  <Company>Artesis Plantijn Hogeschool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Muyshondt Karen</dc:creator>
  <cp:lastModifiedBy>Binnemans Charlotte</cp:lastModifiedBy>
  <cp:revision>112</cp:revision>
  <dcterms:created xsi:type="dcterms:W3CDTF">2019-12-03T14:45:58Z</dcterms:created>
  <dcterms:modified xsi:type="dcterms:W3CDTF">2025-04-25T07:04:22Z</dcterms:modified>
</cp:coreProperties>
</file>